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2bb42b9ed_0_0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d2bb42b9ed_0_0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bb42b9ed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bb42b9ed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d2bb42b9ed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bb42b9ed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bb42b9ed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2bb42b9ed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luan-tavares/unifaat2026-dw-node-bimestre01" TargetMode="External"/><Relationship Id="rId4" Type="http://schemas.openxmlformats.org/officeDocument/2006/relationships/hyperlink" Target="https://docs.google.com/forms/d/e/1FAIpQLSdibA7uYQFUtwNRPSO1ZBoQWUublVxTTp0gJJbWx1btBXvkiA/viewform?usp=dialog" TargetMode="External"/><Relationship Id="rId5" Type="http://schemas.openxmlformats.org/officeDocument/2006/relationships/hyperlink" Target="https://www.youtube.com/watch?v=y6HSxH0FIW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4"/>
          <p:cNvSpPr txBox="1"/>
          <p:nvPr/>
        </p:nvSpPr>
        <p:spPr>
          <a:xfrm>
            <a:off x="58449" y="5330856"/>
            <a:ext cx="94251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lt1"/>
                </a:solidFill>
              </a:rPr>
              <a:t>2026.1 - 3º Semestre - Desenvolvimento Web</a:t>
            </a:r>
            <a:endParaRPr b="1" sz="3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Aula 05 - Node.js: Gerenciador de Pacotes e fs</a:t>
            </a:r>
            <a:endParaRPr b="1"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Professor Luan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50" y="404813"/>
            <a:ext cx="9305925" cy="741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/>
        </p:nvSpPr>
        <p:spPr>
          <a:xfrm>
            <a:off x="847775" y="1333700"/>
            <a:ext cx="12892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Repositório Aula:</a:t>
            </a:r>
            <a:br>
              <a:rPr lang="en-US"/>
            </a:br>
            <a:r>
              <a:rPr lang="en-US" sz="1800" u="sng">
                <a:solidFill>
                  <a:schemeClr val="hlink"/>
                </a:solidFill>
                <a:hlinkClick r:id="rId3"/>
              </a:rPr>
              <a:t>https://github.com/luan-tavares/unifaat2026-dw-node-bimestre01</a:t>
            </a:r>
            <a:br>
              <a:rPr lang="en-US" sz="1800"/>
            </a:br>
            <a:br>
              <a:rPr lang="en-US" sz="1800"/>
            </a:br>
            <a:br>
              <a:rPr b="1" lang="en-US" sz="3200"/>
            </a:br>
            <a:r>
              <a:rPr b="1" lang="en-US" sz="3200"/>
              <a:t>TF:</a:t>
            </a:r>
            <a:br>
              <a:rPr lang="en-US" sz="1800"/>
            </a:br>
            <a:r>
              <a:rPr lang="en-US" sz="1800" u="sng">
                <a:solidFill>
                  <a:schemeClr val="hlink"/>
                </a:solidFill>
                <a:hlinkClick r:id="rId4"/>
              </a:rPr>
              <a:t>https://docs.google.com/forms/d/e/1FAIpQLSdibA7uYQFUtwNRPSO1ZBoQWUublVxTTp0gJJbWx1btBXvkiA/viewform?usp=dialog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Promises: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https://www.youtube.com/watch?v=y6HSxH0FIWM</a:t>
            </a:r>
            <a:endParaRPr b="1"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>
            <a:off x="793790" y="2018467"/>
            <a:ext cx="99262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Dependências: não reinvente a roda</a:t>
            </a:r>
            <a:endParaRPr b="0" i="0" sz="4450" u="none" cap="none" strike="noStrike"/>
          </a:p>
        </p:txBody>
      </p:sp>
      <p:sp>
        <p:nvSpPr>
          <p:cNvPr id="68" name="Google Shape;68;p17"/>
          <p:cNvSpPr/>
          <p:nvPr/>
        </p:nvSpPr>
        <p:spPr>
          <a:xfrm>
            <a:off x="630436" y="3067407"/>
            <a:ext cx="6571417" cy="3143726"/>
          </a:xfrm>
          <a:prstGeom prst="roundRect">
            <a:avLst>
              <a:gd fmla="val 5195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57250" y="32942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princípio</a:t>
            </a:r>
            <a:endParaRPr b="0" i="0" sz="2200" u="none" cap="none" strike="noStrike"/>
          </a:p>
        </p:txBody>
      </p:sp>
      <p:sp>
        <p:nvSpPr>
          <p:cNvPr id="70" name="Google Shape;70;p17"/>
          <p:cNvSpPr/>
          <p:nvPr/>
        </p:nvSpPr>
        <p:spPr>
          <a:xfrm>
            <a:off x="857250" y="3875365"/>
            <a:ext cx="6117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o problema já foi resolvido de forma confiável,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reutilize a solução.</a:t>
            </a:r>
            <a:endParaRPr b="0" i="0" sz="1750" u="none" cap="none" strike="noStrike"/>
          </a:p>
        </p:txBody>
      </p:sp>
      <p:sp>
        <p:nvSpPr>
          <p:cNvPr id="71" name="Google Shape;71;p17"/>
          <p:cNvSpPr/>
          <p:nvPr/>
        </p:nvSpPr>
        <p:spPr>
          <a:xfrm>
            <a:off x="857250" y="4805243"/>
            <a:ext cx="6117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Desenvolvimento profissional = reuso inteligente de software.</a:t>
            </a:r>
            <a:endParaRPr b="0" i="0" sz="1750" u="none" cap="none" strike="noStrike"/>
          </a:p>
        </p:txBody>
      </p:sp>
      <p:sp>
        <p:nvSpPr>
          <p:cNvPr id="72" name="Google Shape;72;p17"/>
          <p:cNvSpPr/>
          <p:nvPr/>
        </p:nvSpPr>
        <p:spPr>
          <a:xfrm>
            <a:off x="7599521" y="3294221"/>
            <a:ext cx="356104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são dependências?</a:t>
            </a:r>
            <a:endParaRPr b="0" i="0" sz="2200" u="none" cap="none" strike="noStrike"/>
          </a:p>
        </p:txBody>
      </p:sp>
      <p:sp>
        <p:nvSpPr>
          <p:cNvPr id="73" name="Google Shape;73;p17"/>
          <p:cNvSpPr/>
          <p:nvPr/>
        </p:nvSpPr>
        <p:spPr>
          <a:xfrm>
            <a:off x="7599521" y="387536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Códigos externos que seu projeto utiliza:</a:t>
            </a:r>
            <a:endParaRPr b="0" i="0" sz="1750" u="none" cap="none" strike="noStrike"/>
          </a:p>
        </p:txBody>
      </p:sp>
      <p:sp>
        <p:nvSpPr>
          <p:cNvPr id="74" name="Google Shape;74;p17"/>
          <p:cNvSpPr/>
          <p:nvPr/>
        </p:nvSpPr>
        <p:spPr>
          <a:xfrm>
            <a:off x="7599521" y="4442341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Estilizar saída no terminal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Manipular arrays e objetos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Validar dados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Fazer requisições HTTP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612100" y="480893"/>
            <a:ext cx="5271611" cy="54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Árvore de Dependências</a:t>
            </a:r>
            <a:endParaRPr b="0" i="0" sz="3400" u="none" cap="none" strike="noStrike"/>
          </a:p>
        </p:txBody>
      </p:sp>
      <p:pic>
        <p:nvPicPr>
          <p:cNvPr descr="preencoded.png" id="81" name="Google Shape;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100" y="1381482"/>
            <a:ext cx="6489740" cy="64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100" y="1381482"/>
            <a:ext cx="6489740" cy="64897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/>
          <p:nvPr/>
        </p:nvSpPr>
        <p:spPr>
          <a:xfrm>
            <a:off x="7536180" y="3648908"/>
            <a:ext cx="3201114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isso significa na prática</a:t>
            </a:r>
            <a:endParaRPr b="0" i="0" sz="1700" u="none" cap="none" strike="noStrike"/>
          </a:p>
        </p:txBody>
      </p:sp>
      <p:sp>
        <p:nvSpPr>
          <p:cNvPr id="84" name="Google Shape;84;p18"/>
          <p:cNvSpPr/>
          <p:nvPr/>
        </p:nvSpPr>
        <p:spPr>
          <a:xfrm>
            <a:off x="7536180" y="4056936"/>
            <a:ext cx="6489740" cy="495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Você instala </a:t>
            </a: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b="0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biblioteca diretamente, mas várias outras chegam junto para sustentá-la.</a:t>
            </a:r>
            <a:endParaRPr b="0" i="0" sz="1350" u="none" cap="none" strike="noStrike"/>
          </a:p>
        </p:txBody>
      </p:sp>
      <p:sp>
        <p:nvSpPr>
          <p:cNvPr id="85" name="Google Shape;85;p18"/>
          <p:cNvSpPr/>
          <p:nvPr/>
        </p:nvSpPr>
        <p:spPr>
          <a:xfrm>
            <a:off x="7536180" y="4704159"/>
            <a:ext cx="6489740" cy="882729"/>
          </a:xfrm>
          <a:prstGeom prst="roundRect">
            <a:avLst>
              <a:gd fmla="val 8322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1083" y="4952524"/>
            <a:ext cx="218599" cy="1749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8104584" y="4882634"/>
            <a:ext cx="5746433" cy="495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isso precisamos de um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gerenciador de dependências</a:t>
            </a:r>
            <a:r>
              <a:rPr b="0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não dá para controlar isso manualmente.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793790" y="1178957"/>
            <a:ext cx="835021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npm — o gerenciador do Node</a:t>
            </a:r>
            <a:endParaRPr b="0" i="0" sz="4450" u="none" cap="none" strike="noStrike"/>
          </a:p>
        </p:txBody>
      </p:sp>
      <p:sp>
        <p:nvSpPr>
          <p:cNvPr id="94" name="Google Shape;94;p19"/>
          <p:cNvSpPr/>
          <p:nvPr/>
        </p:nvSpPr>
        <p:spPr>
          <a:xfrm>
            <a:off x="793790" y="2341364"/>
            <a:ext cx="6407944" cy="2063591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824270" y="2371844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3827621" y="249555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97" name="Google Shape;97;p19"/>
          <p:cNvSpPr/>
          <p:nvPr/>
        </p:nvSpPr>
        <p:spPr>
          <a:xfrm>
            <a:off x="1051084" y="3279100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npm init -y</a:t>
            </a:r>
            <a:endParaRPr b="0" i="0" sz="2200" u="none" cap="none" strike="noStrike"/>
          </a:p>
        </p:txBody>
      </p:sp>
      <p:sp>
        <p:nvSpPr>
          <p:cNvPr id="98" name="Google Shape;98;p19"/>
          <p:cNvSpPr/>
          <p:nvPr/>
        </p:nvSpPr>
        <p:spPr>
          <a:xfrm>
            <a:off x="1051084" y="3777139"/>
            <a:ext cx="5893356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Cria o </a:t>
            </a: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package.json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manifesto do projeto</a:t>
            </a:r>
            <a:endParaRPr b="0" i="0" sz="1750" u="none" cap="none" strike="noStrike"/>
          </a:p>
        </p:txBody>
      </p:sp>
      <p:sp>
        <p:nvSpPr>
          <p:cNvPr id="99" name="Google Shape;99;p19"/>
          <p:cNvSpPr/>
          <p:nvPr/>
        </p:nvSpPr>
        <p:spPr>
          <a:xfrm>
            <a:off x="7428548" y="2341364"/>
            <a:ext cx="6408063" cy="2063591"/>
          </a:xfrm>
          <a:prstGeom prst="roundRect">
            <a:avLst>
              <a:gd fmla="val 4617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7459027" y="2371844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10462498" y="249555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102" name="Google Shape;102;p19"/>
          <p:cNvSpPr/>
          <p:nvPr/>
        </p:nvSpPr>
        <p:spPr>
          <a:xfrm>
            <a:off x="7685842" y="3279100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npm install chalk</a:t>
            </a:r>
            <a:endParaRPr b="0" i="0" sz="2200" u="none" cap="none" strike="noStrike"/>
          </a:p>
        </p:txBody>
      </p:sp>
      <p:sp>
        <p:nvSpPr>
          <p:cNvPr id="103" name="Google Shape;103;p19"/>
          <p:cNvSpPr/>
          <p:nvPr/>
        </p:nvSpPr>
        <p:spPr>
          <a:xfrm>
            <a:off x="7685842" y="3777139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Baixa, instala e registra a dependência</a:t>
            </a:r>
            <a:endParaRPr b="0" i="0" sz="1750" u="none" cap="none" strike="noStrike"/>
          </a:p>
        </p:txBody>
      </p:sp>
      <p:sp>
        <p:nvSpPr>
          <p:cNvPr id="104" name="Google Shape;104;p19"/>
          <p:cNvSpPr/>
          <p:nvPr/>
        </p:nvSpPr>
        <p:spPr>
          <a:xfrm>
            <a:off x="793790" y="4631769"/>
            <a:ext cx="6407944" cy="2418874"/>
          </a:xfrm>
          <a:prstGeom prst="roundRect">
            <a:avLst>
              <a:gd fmla="val 3939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824270" y="4662249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3827621" y="478595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107" name="Google Shape;107;p19"/>
          <p:cNvSpPr/>
          <p:nvPr/>
        </p:nvSpPr>
        <p:spPr>
          <a:xfrm>
            <a:off x="1051084" y="5569506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2200" u="none" cap="none" strike="noStrike"/>
          </a:p>
        </p:txBody>
      </p:sp>
      <p:sp>
        <p:nvSpPr>
          <p:cNvPr id="108" name="Google Shape;108;p19"/>
          <p:cNvSpPr/>
          <p:nvPr/>
        </p:nvSpPr>
        <p:spPr>
          <a:xfrm>
            <a:off x="1051084" y="6067544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Reconstrói todas as dependências de qualquer máquina</a:t>
            </a:r>
            <a:endParaRPr b="0" i="0" sz="1750" u="none" cap="none" strike="noStrike"/>
          </a:p>
        </p:txBody>
      </p:sp>
      <p:sp>
        <p:nvSpPr>
          <p:cNvPr id="109" name="Google Shape;109;p19"/>
          <p:cNvSpPr/>
          <p:nvPr/>
        </p:nvSpPr>
        <p:spPr>
          <a:xfrm>
            <a:off x="7428548" y="4631769"/>
            <a:ext cx="6408063" cy="2418874"/>
          </a:xfrm>
          <a:prstGeom prst="roundRect">
            <a:avLst>
              <a:gd fmla="val 3939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459027" y="4662249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10462498" y="478595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650" u="none" cap="none" strike="noStrike"/>
          </a:p>
        </p:txBody>
      </p:sp>
      <p:sp>
        <p:nvSpPr>
          <p:cNvPr id="112" name="Google Shape;112;p19"/>
          <p:cNvSpPr/>
          <p:nvPr/>
        </p:nvSpPr>
        <p:spPr>
          <a:xfrm>
            <a:off x="7685853" y="5599999"/>
            <a:ext cx="3769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npm uninstall chalk</a:t>
            </a:r>
            <a:endParaRPr b="0" i="0" sz="2200" u="none" cap="none" strike="noStrike"/>
          </a:p>
        </p:txBody>
      </p:sp>
      <p:sp>
        <p:nvSpPr>
          <p:cNvPr id="113" name="Google Shape;113;p19"/>
          <p:cNvSpPr/>
          <p:nvPr/>
        </p:nvSpPr>
        <p:spPr>
          <a:xfrm>
            <a:off x="7685842" y="6067544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Remove biblioteca e atualiza o manifesto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793790" y="2509599"/>
            <a:ext cx="811744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Estrutura de um Projeto Node</a:t>
            </a:r>
            <a:endParaRPr b="0" i="0" sz="4450" u="none" cap="none" strike="noStrike"/>
          </a:p>
        </p:txBody>
      </p:sp>
      <p:sp>
        <p:nvSpPr>
          <p:cNvPr id="120" name="Google Shape;120;p20"/>
          <p:cNvSpPr/>
          <p:nvPr/>
        </p:nvSpPr>
        <p:spPr>
          <a:xfrm>
            <a:off x="793790" y="3672007"/>
            <a:ext cx="13042821" cy="2047994"/>
          </a:xfrm>
          <a:prstGeom prst="roundRect">
            <a:avLst>
              <a:gd fmla="val 4652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801410" y="3679627"/>
            <a:ext cx="4342448" cy="2032754"/>
          </a:xfrm>
          <a:prstGeom prst="roundRect">
            <a:avLst>
              <a:gd fmla="val 4687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1028224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package.json</a:t>
            </a:r>
            <a:endParaRPr b="0" i="0" sz="2200" u="none" cap="none" strike="noStrike"/>
          </a:p>
        </p:txBody>
      </p:sp>
      <p:sp>
        <p:nvSpPr>
          <p:cNvPr id="123" name="Google Shape;123;p20"/>
          <p:cNvSpPr/>
          <p:nvPr/>
        </p:nvSpPr>
        <p:spPr>
          <a:xfrm>
            <a:off x="1028224" y="4396859"/>
            <a:ext cx="35486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Manifesto: descreve o projeto e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declara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as dependências</a:t>
            </a:r>
            <a:endParaRPr b="0" i="0" sz="1750" u="none" cap="none" strike="noStrike"/>
          </a:p>
        </p:txBody>
      </p:sp>
      <p:sp>
        <p:nvSpPr>
          <p:cNvPr id="124" name="Google Shape;124;p20"/>
          <p:cNvSpPr/>
          <p:nvPr/>
        </p:nvSpPr>
        <p:spPr>
          <a:xfrm>
            <a:off x="5143857" y="3679627"/>
            <a:ext cx="4342567" cy="2032754"/>
          </a:xfrm>
          <a:prstGeom prst="rect">
            <a:avLst/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5143857" y="3679627"/>
            <a:ext cx="30480" cy="2032754"/>
          </a:xfrm>
          <a:prstGeom prst="roundRect">
            <a:avLst>
              <a:gd fmla="val 31255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5710833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node_modules/</a:t>
            </a:r>
            <a:endParaRPr b="0" i="0" sz="2200" u="none" cap="none" strike="noStrike"/>
          </a:p>
        </p:txBody>
      </p:sp>
      <p:sp>
        <p:nvSpPr>
          <p:cNvPr id="127" name="Google Shape;127;p20"/>
          <p:cNvSpPr/>
          <p:nvPr/>
        </p:nvSpPr>
        <p:spPr>
          <a:xfrm>
            <a:off x="5710833" y="4396859"/>
            <a:ext cx="320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Onde as dependências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ficam de verdade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nunca editar manualmente</a:t>
            </a:r>
            <a:endParaRPr b="0" i="0" sz="1750" u="none" cap="none" strike="noStrike"/>
          </a:p>
        </p:txBody>
      </p:sp>
      <p:sp>
        <p:nvSpPr>
          <p:cNvPr id="128" name="Google Shape;128;p20"/>
          <p:cNvSpPr/>
          <p:nvPr/>
        </p:nvSpPr>
        <p:spPr>
          <a:xfrm>
            <a:off x="4860369" y="4412456"/>
            <a:ext cx="566976" cy="566976"/>
          </a:xfrm>
          <a:prstGeom prst="roundRect">
            <a:avLst>
              <a:gd fmla="val 16803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2054" y="4554141"/>
            <a:ext cx="283488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9486424" y="3679627"/>
            <a:ext cx="4342567" cy="2032754"/>
          </a:xfrm>
          <a:prstGeom prst="rect">
            <a:avLst/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9486424" y="3679627"/>
            <a:ext cx="30480" cy="2032754"/>
          </a:xfrm>
          <a:prstGeom prst="roundRect">
            <a:avLst>
              <a:gd fmla="val 31255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10053399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package-lock.json</a:t>
            </a:r>
            <a:endParaRPr b="0" i="0" sz="2200" u="none" cap="none" strike="noStrike"/>
          </a:p>
        </p:txBody>
      </p:sp>
      <p:sp>
        <p:nvSpPr>
          <p:cNvPr id="133" name="Google Shape;133;p20"/>
          <p:cNvSpPr/>
          <p:nvPr/>
        </p:nvSpPr>
        <p:spPr>
          <a:xfrm>
            <a:off x="10053399" y="4396859"/>
            <a:ext cx="354877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Registra as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versões exatas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instaladas — nunca editar manualmente</a:t>
            </a:r>
            <a:endParaRPr b="0" i="0" sz="1750" u="none" cap="none" strike="noStrike"/>
          </a:p>
        </p:txBody>
      </p:sp>
      <p:sp>
        <p:nvSpPr>
          <p:cNvPr id="134" name="Google Shape;134;p20"/>
          <p:cNvSpPr/>
          <p:nvPr/>
        </p:nvSpPr>
        <p:spPr>
          <a:xfrm>
            <a:off x="9202936" y="4412456"/>
            <a:ext cx="566976" cy="566976"/>
          </a:xfrm>
          <a:prstGeom prst="roundRect">
            <a:avLst>
              <a:gd fmla="val 16803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4620" y="4554141"/>
            <a:ext cx="283488" cy="28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793790" y="749498"/>
            <a:ext cx="676608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package.json por dentro</a:t>
            </a:r>
            <a:endParaRPr b="0" i="0" sz="4450" u="none" cap="none" strike="noStrike"/>
          </a:p>
        </p:txBody>
      </p:sp>
      <p:sp>
        <p:nvSpPr>
          <p:cNvPr id="142" name="Google Shape;142;p21"/>
          <p:cNvSpPr/>
          <p:nvPr/>
        </p:nvSpPr>
        <p:spPr>
          <a:xfrm>
            <a:off x="793790" y="2053590"/>
            <a:ext cx="6244709" cy="5171361"/>
          </a:xfrm>
          <a:prstGeom prst="roundRect">
            <a:avLst>
              <a:gd fmla="val 184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782475" y="2053601"/>
            <a:ext cx="6267300" cy="5938200"/>
          </a:xfrm>
          <a:prstGeom prst="roundRect">
            <a:avLst>
              <a:gd fmla="val 65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1065967" y="2280404"/>
            <a:ext cx="5700355" cy="4717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"name": "meu-projeto",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"version": "1.0.0",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"type": "module",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"main": "index.js",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"scripts":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"start": "node index.js"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"dependencies":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"chalk": "^5.0.0",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"lodash": "^4.17.21"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/>
          </a:p>
        </p:txBody>
      </p:sp>
      <p:sp>
        <p:nvSpPr>
          <p:cNvPr id="145" name="Google Shape;145;p21"/>
          <p:cNvSpPr/>
          <p:nvPr/>
        </p:nvSpPr>
        <p:spPr>
          <a:xfrm>
            <a:off x="7569041" y="2023110"/>
            <a:ext cx="60960" cy="1746052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7887295" y="2053590"/>
            <a:ext cx="26928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type: "module"</a:t>
            </a:r>
            <a:endParaRPr b="0" i="0" sz="2200" u="none" cap="none" strike="noStrike"/>
          </a:p>
        </p:txBody>
      </p:sp>
      <p:sp>
        <p:nvSpPr>
          <p:cNvPr id="147" name="Google Shape;147;p21"/>
          <p:cNvSpPr/>
          <p:nvPr/>
        </p:nvSpPr>
        <p:spPr>
          <a:xfrm>
            <a:off x="7887295" y="2642354"/>
            <a:ext cx="269283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Ativa ES Modules — sintaxe </a:t>
            </a: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import/export</a:t>
            </a:r>
            <a:endParaRPr b="0" i="0" sz="1750" u="none" cap="none" strike="noStrike"/>
          </a:p>
        </p:txBody>
      </p:sp>
      <p:sp>
        <p:nvSpPr>
          <p:cNvPr id="148" name="Google Shape;148;p21"/>
          <p:cNvSpPr/>
          <p:nvPr/>
        </p:nvSpPr>
        <p:spPr>
          <a:xfrm>
            <a:off x="10833140" y="2023110"/>
            <a:ext cx="60960" cy="1746052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11151394" y="2053590"/>
            <a:ext cx="26928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scripts</a:t>
            </a:r>
            <a:endParaRPr b="0" i="0" sz="2200" u="none" cap="none" strike="noStrike"/>
          </a:p>
        </p:txBody>
      </p:sp>
      <p:sp>
        <p:nvSpPr>
          <p:cNvPr id="150" name="Google Shape;150;p21"/>
          <p:cNvSpPr/>
          <p:nvPr/>
        </p:nvSpPr>
        <p:spPr>
          <a:xfrm>
            <a:off x="11151394" y="2642354"/>
            <a:ext cx="2692837" cy="1096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Atalhos: </a:t>
            </a: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npm run start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em vez do comando completo</a:t>
            </a:r>
            <a:endParaRPr b="0" i="0" sz="1750" u="none" cap="none" strike="noStrike"/>
          </a:p>
        </p:txBody>
      </p:sp>
      <p:sp>
        <p:nvSpPr>
          <p:cNvPr id="151" name="Google Shape;151;p21"/>
          <p:cNvSpPr/>
          <p:nvPr/>
        </p:nvSpPr>
        <p:spPr>
          <a:xfrm>
            <a:off x="7569041" y="4161830"/>
            <a:ext cx="60960" cy="1012627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7887295" y="4192310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dependencies</a:t>
            </a:r>
            <a:endParaRPr b="0" i="0" sz="2200" u="none" cap="none" strike="noStrike"/>
          </a:p>
        </p:txBody>
      </p:sp>
      <p:sp>
        <p:nvSpPr>
          <p:cNvPr id="153" name="Google Shape;153;p21"/>
          <p:cNvSpPr/>
          <p:nvPr/>
        </p:nvSpPr>
        <p:spPr>
          <a:xfrm>
            <a:off x="7887295" y="4781074"/>
            <a:ext cx="59569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Declara o que é necessário — não armazena o código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793790" y="1432322"/>
            <a:ext cx="1195744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 onde vêm os parâmetros das callbacks?</a:t>
            </a:r>
            <a:endParaRPr b="0" i="0" sz="4450" u="none" cap="none" strike="noStrike"/>
          </a:p>
        </p:txBody>
      </p:sp>
      <p:sp>
        <p:nvSpPr>
          <p:cNvPr id="160" name="Google Shape;160;p22"/>
          <p:cNvSpPr/>
          <p:nvPr/>
        </p:nvSpPr>
        <p:spPr>
          <a:xfrm>
            <a:off x="793790" y="2736413"/>
            <a:ext cx="6244709" cy="3356848"/>
          </a:xfrm>
          <a:prstGeom prst="roundRect">
            <a:avLst>
              <a:gd fmla="val 28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782475" y="2736427"/>
            <a:ext cx="6267300" cy="3805500"/>
          </a:xfrm>
          <a:prstGeom prst="roundRect">
            <a:avLst>
              <a:gd fmla="val 10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1065967" y="2963228"/>
            <a:ext cx="5700355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function executar(callback)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const resultado = 10;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callback(resultado); // ← quem decide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executar((valor)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console.log(valor); // recebe 10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750" u="none" cap="none" strike="noStrike"/>
          </a:p>
        </p:txBody>
      </p:sp>
      <p:sp>
        <p:nvSpPr>
          <p:cNvPr id="163" name="Google Shape;163;p22"/>
          <p:cNvSpPr/>
          <p:nvPr/>
        </p:nvSpPr>
        <p:spPr>
          <a:xfrm>
            <a:off x="7599521" y="2708077"/>
            <a:ext cx="28372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regra fundamental</a:t>
            </a:r>
            <a:endParaRPr b="0" i="0" sz="2200" u="none" cap="none" strike="noStrike"/>
          </a:p>
        </p:txBody>
      </p:sp>
      <p:sp>
        <p:nvSpPr>
          <p:cNvPr id="164" name="Google Shape;164;p22"/>
          <p:cNvSpPr/>
          <p:nvPr/>
        </p:nvSpPr>
        <p:spPr>
          <a:xfrm>
            <a:off x="7599521" y="3289221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Quem executa a callback decide quais argumentos enviar.</a:t>
            </a:r>
            <a:endParaRPr b="0" i="0" sz="1750" u="none" cap="none" strike="noStrike"/>
          </a:p>
        </p:txBody>
      </p:sp>
      <p:sp>
        <p:nvSpPr>
          <p:cNvPr id="165" name="Google Shape;165;p22"/>
          <p:cNvSpPr/>
          <p:nvPr/>
        </p:nvSpPr>
        <p:spPr>
          <a:xfrm>
            <a:off x="7599521" y="4219099"/>
            <a:ext cx="6244709" cy="741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 Node, quando fazemos </a:t>
            </a: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fs.readFile(...)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é o próprio Node que chama nossa callback passando </a:t>
            </a: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(erro, dados)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/>
          </a:p>
        </p:txBody>
      </p:sp>
      <p:sp>
        <p:nvSpPr>
          <p:cNvPr id="166" name="Google Shape;166;p22"/>
          <p:cNvSpPr/>
          <p:nvPr/>
        </p:nvSpPr>
        <p:spPr>
          <a:xfrm>
            <a:off x="7599521" y="5215295"/>
            <a:ext cx="6244709" cy="1326713"/>
          </a:xfrm>
          <a:prstGeom prst="roundRect">
            <a:avLst>
              <a:gd fmla="val 7181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335" y="555938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8336637" y="5498783"/>
            <a:ext cx="52807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 parâmetros não surgem por mágica — eles vêm de quem invoca a função.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793800" y="848450"/>
            <a:ext cx="9196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550"/>
              <a:buFont typeface="Inter"/>
              <a:buNone/>
            </a:pPr>
            <a:r>
              <a:rPr b="1" i="0" lang="en-US" sz="3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fs (file sytem) — Sistema de Arquivos</a:t>
            </a:r>
            <a:endParaRPr b="0" i="0" sz="3550" u="none" cap="none" strike="noStrike"/>
          </a:p>
        </p:txBody>
      </p:sp>
      <p:sp>
        <p:nvSpPr>
          <p:cNvPr id="175" name="Google Shape;175;p23"/>
          <p:cNvSpPr/>
          <p:nvPr/>
        </p:nvSpPr>
        <p:spPr>
          <a:xfrm>
            <a:off x="793790" y="1778198"/>
            <a:ext cx="228802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Leitura com callback</a:t>
            </a:r>
            <a:endParaRPr b="0" i="0" sz="1750" u="none" cap="none" strike="noStrike"/>
          </a:p>
        </p:txBody>
      </p:sp>
      <p:sp>
        <p:nvSpPr>
          <p:cNvPr id="176" name="Google Shape;176;p23"/>
          <p:cNvSpPr/>
          <p:nvPr/>
        </p:nvSpPr>
        <p:spPr>
          <a:xfrm>
            <a:off x="793790" y="2224921"/>
            <a:ext cx="6300073" cy="2452688"/>
          </a:xfrm>
          <a:prstGeom prst="roundRect">
            <a:avLst>
              <a:gd fmla="val 310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784750" y="2224926"/>
            <a:ext cx="6318300" cy="2951700"/>
          </a:xfrm>
          <a:prstGeom prst="roundRect">
            <a:avLst>
              <a:gd fmla="val 11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1011555" y="2406372"/>
            <a:ext cx="5864543" cy="2089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 fs from 'fs';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fs.readFile('arquivo.txt', 'utf8',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(erro, dados) =&gt; {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if (erro) return;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console.log(dados);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794328" y="5357768"/>
            <a:ext cx="2286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Escrita com callback</a:t>
            </a:r>
            <a:endParaRPr b="0" i="0" sz="1750" u="none" cap="none" strike="noStrike"/>
          </a:p>
        </p:txBody>
      </p:sp>
      <p:sp>
        <p:nvSpPr>
          <p:cNvPr id="180" name="Google Shape;180;p23"/>
          <p:cNvSpPr/>
          <p:nvPr/>
        </p:nvSpPr>
        <p:spPr>
          <a:xfrm>
            <a:off x="784750" y="5949251"/>
            <a:ext cx="6318300" cy="2145900"/>
          </a:xfrm>
          <a:prstGeom prst="roundRect">
            <a:avLst>
              <a:gd fmla="val 14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1011630" y="6130680"/>
            <a:ext cx="58644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fs.writeFile('arquivo.txt', 'Conteúdo',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(erro) =&gt; {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if (erro) return;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console.log('Escrito!');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/>
          </a:p>
        </p:txBody>
      </p:sp>
      <p:sp>
        <p:nvSpPr>
          <p:cNvPr id="182" name="Google Shape;182;p23"/>
          <p:cNvSpPr/>
          <p:nvPr/>
        </p:nvSpPr>
        <p:spPr>
          <a:xfrm>
            <a:off x="7544157" y="1778198"/>
            <a:ext cx="2445901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Por que é assíncrono?</a:t>
            </a:r>
            <a:endParaRPr b="0" i="0" sz="1750" u="none" cap="none" strike="noStrike"/>
          </a:p>
        </p:txBody>
      </p:sp>
      <p:sp>
        <p:nvSpPr>
          <p:cNvPr id="183" name="Google Shape;183;p23"/>
          <p:cNvSpPr/>
          <p:nvPr/>
        </p:nvSpPr>
        <p:spPr>
          <a:xfrm>
            <a:off x="7544157" y="2206823"/>
            <a:ext cx="6300073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arquivo está no </a:t>
            </a: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disco</a:t>
            </a: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externo ao processo. A operação:</a:t>
            </a:r>
            <a:endParaRPr b="0" i="0" sz="1400" u="none" cap="none" strike="noStrike"/>
          </a:p>
        </p:txBody>
      </p:sp>
      <p:sp>
        <p:nvSpPr>
          <p:cNvPr id="184" name="Google Shape;184;p23"/>
          <p:cNvSpPr/>
          <p:nvPr/>
        </p:nvSpPr>
        <p:spPr>
          <a:xfrm>
            <a:off x="7544157" y="2598658"/>
            <a:ext cx="6300073" cy="885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Pode demorar</a:t>
            </a:r>
            <a:endParaRPr b="0" i="0" sz="1400" u="none" cap="none" strike="noStrike"/>
          </a:p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Depende do SO</a:t>
            </a:r>
            <a:endParaRPr b="0" i="0" sz="1400" u="none" cap="none" strike="noStrike"/>
          </a:p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deve travar o programa</a:t>
            </a:r>
            <a:endParaRPr b="0" i="0" sz="1400" u="none" cap="none" strike="noStrike"/>
          </a:p>
        </p:txBody>
      </p:sp>
      <p:sp>
        <p:nvSpPr>
          <p:cNvPr id="185" name="Google Shape;185;p23"/>
          <p:cNvSpPr/>
          <p:nvPr/>
        </p:nvSpPr>
        <p:spPr>
          <a:xfrm>
            <a:off x="7544150" y="3646998"/>
            <a:ext cx="6300000" cy="1243200"/>
          </a:xfrm>
          <a:prstGeom prst="roundRect">
            <a:avLst>
              <a:gd fmla="val 11197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5608" y="3905488"/>
            <a:ext cx="226814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/>
          <p:nvPr/>
        </p:nvSpPr>
        <p:spPr>
          <a:xfrm>
            <a:off x="8133874" y="3837503"/>
            <a:ext cx="5528905" cy="2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Padrão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fail fast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 (err) return;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trata o erro cedo e sai do fluxo.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/>
          <p:nvPr/>
        </p:nvSpPr>
        <p:spPr>
          <a:xfrm>
            <a:off x="793790" y="927140"/>
            <a:ext cx="5670590" cy="71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Callback Hell </a:t>
            </a: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endParaRPr b="0" i="0" sz="4450" u="none" cap="none" strike="noStrike"/>
          </a:p>
        </p:txBody>
      </p:sp>
      <p:sp>
        <p:nvSpPr>
          <p:cNvPr id="194" name="Google Shape;194;p24"/>
          <p:cNvSpPr/>
          <p:nvPr/>
        </p:nvSpPr>
        <p:spPr>
          <a:xfrm>
            <a:off x="793790" y="2238851"/>
            <a:ext cx="6244709" cy="4808458"/>
          </a:xfrm>
          <a:prstGeom prst="roundRect">
            <a:avLst>
              <a:gd fmla="val 19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782475" y="2238850"/>
            <a:ext cx="6267300" cy="5587500"/>
          </a:xfrm>
          <a:prstGeom prst="roundRect">
            <a:avLst>
              <a:gd fmla="val 7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1065967" y="2465665"/>
            <a:ext cx="5700355" cy="435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fs.readFile('a.txt', 'utf8', (err, data)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if (err) return;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fs.writeFile('b.txt', data, (err)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if (err) return;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fs.readFile('b.txt', 'utf8',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  (err, novoConteudo)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    if (err) return;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    console.log(novoConteudo);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750" u="none" cap="none" strike="noStrike"/>
          </a:p>
        </p:txBody>
      </p:sp>
      <p:sp>
        <p:nvSpPr>
          <p:cNvPr id="197" name="Google Shape;197;p24"/>
          <p:cNvSpPr/>
          <p:nvPr/>
        </p:nvSpPr>
        <p:spPr>
          <a:xfrm>
            <a:off x="7599521" y="22105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2200" u="none" cap="none" strike="noStrike"/>
          </a:p>
        </p:txBody>
      </p:sp>
      <p:sp>
        <p:nvSpPr>
          <p:cNvPr id="198" name="Google Shape;198;p24"/>
          <p:cNvSpPr/>
          <p:nvPr/>
        </p:nvSpPr>
        <p:spPr>
          <a:xfrm>
            <a:off x="7599521" y="279165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Também chamado de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Hadouken Hell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o código vai cada vez mais para a direita.</a:t>
            </a:r>
            <a:endParaRPr b="0" i="0" sz="1750" u="none" cap="none" strike="noStrike"/>
          </a:p>
        </p:txBody>
      </p:sp>
      <p:sp>
        <p:nvSpPr>
          <p:cNvPr id="199" name="Google Shape;199;p24"/>
          <p:cNvSpPr/>
          <p:nvPr/>
        </p:nvSpPr>
        <p:spPr>
          <a:xfrm>
            <a:off x="7599521" y="3721537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Difícil de ler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Difícil de manter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Etapas misturadas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Alto acoplamento</a:t>
            </a:r>
            <a:endParaRPr b="0" i="0" sz="1750" u="none" cap="none" strike="noStrike"/>
          </a:p>
        </p:txBody>
      </p:sp>
      <p:sp>
        <p:nvSpPr>
          <p:cNvPr id="200" name="Google Shape;200;p24"/>
          <p:cNvSpPr/>
          <p:nvPr/>
        </p:nvSpPr>
        <p:spPr>
          <a:xfrm>
            <a:off x="7599521" y="5615107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É por isso que o JavaScript moderno evoluiu para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Promises e async/await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/>
          <p:nvPr/>
        </p:nvSpPr>
        <p:spPr>
          <a:xfrm>
            <a:off x="793790" y="1552337"/>
            <a:ext cx="61338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Promises: valor futuro</a:t>
            </a:r>
            <a:endParaRPr b="0" i="0" sz="4450" u="none" cap="none" strike="noStrike"/>
          </a:p>
        </p:txBody>
      </p:sp>
      <p:sp>
        <p:nvSpPr>
          <p:cNvPr id="207" name="Google Shape;207;p25"/>
          <p:cNvSpPr/>
          <p:nvPr/>
        </p:nvSpPr>
        <p:spPr>
          <a:xfrm>
            <a:off x="793790" y="3054906"/>
            <a:ext cx="4196358" cy="2040493"/>
          </a:xfrm>
          <a:prstGeom prst="roundRect">
            <a:avLst>
              <a:gd fmla="val 71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793790" y="3024426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2551688" y="2714744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1051084" y="36218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⏸️</a:t>
            </a: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Pending</a:t>
            </a:r>
            <a:endParaRPr b="0" i="0" sz="2200" u="none" cap="none" strike="noStrike"/>
          </a:p>
        </p:txBody>
      </p:sp>
      <p:sp>
        <p:nvSpPr>
          <p:cNvPr id="211" name="Google Shape;211;p25"/>
          <p:cNvSpPr/>
          <p:nvPr/>
        </p:nvSpPr>
        <p:spPr>
          <a:xfrm>
            <a:off x="1051084" y="4112300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Operação ainda em andamento</a:t>
            </a:r>
            <a:endParaRPr b="0" i="0" sz="1750" u="none" cap="none" strike="noStrike"/>
          </a:p>
        </p:txBody>
      </p:sp>
      <p:sp>
        <p:nvSpPr>
          <p:cNvPr id="212" name="Google Shape;212;p25"/>
          <p:cNvSpPr/>
          <p:nvPr/>
        </p:nvSpPr>
        <p:spPr>
          <a:xfrm>
            <a:off x="5216962" y="3054906"/>
            <a:ext cx="4196358" cy="2040493"/>
          </a:xfrm>
          <a:prstGeom prst="roundRect">
            <a:avLst>
              <a:gd fmla="val 71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5216962" y="3024426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6974860" y="2714744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5474256" y="36218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Fulfilled</a:t>
            </a:r>
            <a:endParaRPr b="0" i="0" sz="2200" u="none" cap="none" strike="noStrike"/>
          </a:p>
        </p:txBody>
      </p:sp>
      <p:sp>
        <p:nvSpPr>
          <p:cNvPr id="216" name="Google Shape;216;p25"/>
          <p:cNvSpPr/>
          <p:nvPr/>
        </p:nvSpPr>
        <p:spPr>
          <a:xfrm>
            <a:off x="5474256" y="4112300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Resolvida com sucesso — valor disponível</a:t>
            </a:r>
            <a:endParaRPr b="0" i="0" sz="1750" u="none" cap="none" strike="noStrike"/>
          </a:p>
        </p:txBody>
      </p:sp>
      <p:sp>
        <p:nvSpPr>
          <p:cNvPr id="217" name="Google Shape;217;p25"/>
          <p:cNvSpPr/>
          <p:nvPr/>
        </p:nvSpPr>
        <p:spPr>
          <a:xfrm>
            <a:off x="9640133" y="3054906"/>
            <a:ext cx="4196358" cy="2040493"/>
          </a:xfrm>
          <a:prstGeom prst="roundRect">
            <a:avLst>
              <a:gd fmla="val 71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9640133" y="3024426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11398032" y="2714744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9897427" y="36218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Rejected</a:t>
            </a:r>
            <a:endParaRPr b="0" i="0" sz="2200" u="none" cap="none" strike="noStrike"/>
          </a:p>
        </p:txBody>
      </p:sp>
      <p:sp>
        <p:nvSpPr>
          <p:cNvPr id="221" name="Google Shape;221;p25"/>
          <p:cNvSpPr/>
          <p:nvPr/>
        </p:nvSpPr>
        <p:spPr>
          <a:xfrm>
            <a:off x="9897427" y="4112300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Rejeitada com erro</a:t>
            </a:r>
            <a:endParaRPr b="0" i="0" sz="1750" u="none" cap="none" strike="noStrike"/>
          </a:p>
        </p:txBody>
      </p:sp>
      <p:sp>
        <p:nvSpPr>
          <p:cNvPr id="222" name="Google Shape;222;p25"/>
          <p:cNvSpPr/>
          <p:nvPr/>
        </p:nvSpPr>
        <p:spPr>
          <a:xfrm>
            <a:off x="793790" y="5350550"/>
            <a:ext cx="13042821" cy="1326713"/>
          </a:xfrm>
          <a:prstGeom prst="roundRect">
            <a:avLst>
              <a:gd fmla="val 7181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5694640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/>
          <p:nvPr/>
        </p:nvSpPr>
        <p:spPr>
          <a:xfrm>
            <a:off x="1530906" y="5634038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 prática, você será muito mais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usuário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promises do que criador delas. O Node e as bibliotecas já as entregam prontas.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793790" y="658058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async / await</a:t>
            </a:r>
            <a:endParaRPr b="0" i="0" sz="4200" u="none" cap="none" strike="noStrike"/>
          </a:p>
        </p:txBody>
      </p:sp>
      <p:sp>
        <p:nvSpPr>
          <p:cNvPr id="231" name="Google Shape;231;p26"/>
          <p:cNvSpPr/>
          <p:nvPr/>
        </p:nvSpPr>
        <p:spPr>
          <a:xfrm>
            <a:off x="793790" y="1868805"/>
            <a:ext cx="6258520" cy="5472470"/>
          </a:xfrm>
          <a:prstGeom prst="roundRect">
            <a:avLst>
              <a:gd fmla="val 16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783075" y="1868799"/>
            <a:ext cx="6279900" cy="6164400"/>
          </a:xfrm>
          <a:prstGeom prst="roundRect">
            <a:avLst>
              <a:gd fmla="val 59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1052400" y="2084202"/>
            <a:ext cx="5741400" cy="584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fs from 'fs/promises';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function exemplo() {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try {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const data = await fs.readFile(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'a.txt', 'utf8'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await fs.writeFile('b.txt', data);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console.log(data);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catch (erro) {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console.log('Erro:', erro);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exemplo();</a:t>
            </a:r>
            <a:endParaRPr b="0" i="0" sz="165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553" y="187535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8285917" y="1868805"/>
            <a:ext cx="2693551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async</a:t>
            </a:r>
            <a:endParaRPr b="0" i="0" sz="2100" u="none" cap="none" strike="noStrike"/>
          </a:p>
        </p:txBody>
      </p:sp>
      <p:sp>
        <p:nvSpPr>
          <p:cNvPr id="236" name="Google Shape;236;p26"/>
          <p:cNvSpPr/>
          <p:nvPr/>
        </p:nvSpPr>
        <p:spPr>
          <a:xfrm>
            <a:off x="8285917" y="2425303"/>
            <a:ext cx="5558314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Marca a função como assíncrona — ela retorna uma </a:t>
            </a:r>
            <a:r>
              <a:rPr b="1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Promise</a:t>
            </a:r>
            <a:endParaRPr b="0" i="0" sz="1650" u="none" cap="none" strike="noStrike"/>
          </a:p>
        </p:txBody>
      </p:sp>
      <p:pic>
        <p:nvPicPr>
          <p:cNvPr descr="preencoded.png" id="237" name="Google Shape;2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553" y="3513415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/>
          <p:nvPr/>
        </p:nvSpPr>
        <p:spPr>
          <a:xfrm>
            <a:off x="8285917" y="3506867"/>
            <a:ext cx="2693551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await</a:t>
            </a:r>
            <a:endParaRPr b="0" i="0" sz="2100" u="none" cap="none" strike="noStrike"/>
          </a:p>
        </p:txBody>
      </p:sp>
      <p:sp>
        <p:nvSpPr>
          <p:cNvPr id="239" name="Google Shape;239;p26"/>
          <p:cNvSpPr/>
          <p:nvPr/>
        </p:nvSpPr>
        <p:spPr>
          <a:xfrm>
            <a:off x="8285917" y="4063365"/>
            <a:ext cx="5558314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Espera a resolução da Promise — fluxo parece </a:t>
            </a:r>
            <a:r>
              <a:rPr b="1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  <a:endParaRPr b="0" i="0" sz="1650" u="none" cap="none" strike="noStrike"/>
          </a:p>
        </p:txBody>
      </p:sp>
      <p:pic>
        <p:nvPicPr>
          <p:cNvPr descr="preencoded.png" id="240" name="Google Shape;2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553" y="4815364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6"/>
          <p:cNvSpPr/>
          <p:nvPr/>
        </p:nvSpPr>
        <p:spPr>
          <a:xfrm>
            <a:off x="8285917" y="4808815"/>
            <a:ext cx="2693551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try/catch</a:t>
            </a:r>
            <a:endParaRPr b="0" i="0" sz="2100" u="none" cap="none" strike="noStrike"/>
          </a:p>
        </p:txBody>
      </p:sp>
      <p:sp>
        <p:nvSpPr>
          <p:cNvPr id="242" name="Google Shape;242;p26"/>
          <p:cNvSpPr/>
          <p:nvPr/>
        </p:nvSpPr>
        <p:spPr>
          <a:xfrm>
            <a:off x="8285917" y="5365313"/>
            <a:ext cx="5558314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Tratamento de erro centralizado e mais limpo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