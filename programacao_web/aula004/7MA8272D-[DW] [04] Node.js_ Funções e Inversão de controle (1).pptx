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8229600" cx="14630400"/>
  <p:notesSz cx="8229600" cy="14630400"/>
  <p:embeddedFontLst>
    <p:embeddedFont>
      <p:font typeface="Inter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font" Target="fonts/Inter-bold.fntdata"/><Relationship Id="rId10" Type="http://schemas.openxmlformats.org/officeDocument/2006/relationships/slide" Target="slides/slide6.xml"/><Relationship Id="rId21" Type="http://schemas.openxmlformats.org/officeDocument/2006/relationships/font" Target="fonts/Inter-regular.fntdata"/><Relationship Id="rId13" Type="http://schemas.openxmlformats.org/officeDocument/2006/relationships/slide" Target="slides/slide9.xml"/><Relationship Id="rId24" Type="http://schemas.openxmlformats.org/officeDocument/2006/relationships/font" Target="fonts/Inter-boldItalic.fntdata"/><Relationship Id="rId12" Type="http://schemas.openxmlformats.org/officeDocument/2006/relationships/slide" Target="slides/slide8.xml"/><Relationship Id="rId23" Type="http://schemas.openxmlformats.org/officeDocument/2006/relationships/font" Target="fonts/Inter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7cf46d5c9_0_0:notes"/>
          <p:cNvSpPr txBox="1"/>
          <p:nvPr>
            <p:ph idx="1" type="body"/>
          </p:nvPr>
        </p:nvSpPr>
        <p:spPr>
          <a:xfrm>
            <a:off x="822960" y="7040880"/>
            <a:ext cx="6583800" cy="576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d7cf46d5c9_0_0:notes"/>
          <p:cNvSpPr/>
          <p:nvPr>
            <p:ph idx="2" type="sldImg"/>
          </p:nvPr>
        </p:nvSpPr>
        <p:spPr>
          <a:xfrm>
            <a:off x="822960" y="1828800"/>
            <a:ext cx="6583800" cy="493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7cf46d5c9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7cf46d5c9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3d7cf46d5c9_0_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7cf46d5c9_0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7cf46d5c9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3d7cf46d5c9_0_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luan-tavares/unifaat2026-dw-node-bimestre01" TargetMode="External"/><Relationship Id="rId4" Type="http://schemas.openxmlformats.org/officeDocument/2006/relationships/hyperlink" Target="https://docs.google.com/forms/d/e/1FAIpQLSd2VsSyFoXujVdi5AYFtztApbmKkUuXpIZU2b3SFJl9UYh6Mw/viewform?usp=publish-editor" TargetMode="External"/><Relationship Id="rId5" Type="http://schemas.openxmlformats.org/officeDocument/2006/relationships/hyperlink" Target="https://www.youtube.com/watch?v=093dIOCNeIc&amp;list=PLQCmSnNFVYnT1-oeDOSBnt164802rkegc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5" Type="http://schemas.openxmlformats.org/officeDocument/2006/relationships/image" Target="../media/image16.png"/><Relationship Id="rId6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6"/>
          <p:cNvSpPr txBox="1"/>
          <p:nvPr/>
        </p:nvSpPr>
        <p:spPr>
          <a:xfrm>
            <a:off x="58449" y="5330856"/>
            <a:ext cx="9425100" cy="14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25" spcFirstLastPara="1" rIns="109725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chemeClr val="lt1"/>
                </a:solidFill>
              </a:rPr>
              <a:t>2026.1 - 3º Semestre - Desenvolvimento Web</a:t>
            </a:r>
            <a:endParaRPr b="1" sz="34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</a:rPr>
              <a:t>Aula 04 - Node.js: Funç</a:t>
            </a:r>
            <a:r>
              <a:rPr b="1" lang="en-US" sz="3000">
                <a:solidFill>
                  <a:schemeClr val="lt1"/>
                </a:solidFill>
              </a:rPr>
              <a:t>ões e Inversão de Controle</a:t>
            </a:r>
            <a:endParaRPr b="1" sz="30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</a:rPr>
              <a:t>Professor Luan</a:t>
            </a:r>
            <a:endParaRPr b="1"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8450" y="328800"/>
            <a:ext cx="9267825" cy="734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/>
          <p:nvPr/>
        </p:nvSpPr>
        <p:spPr>
          <a:xfrm>
            <a:off x="847775" y="1333700"/>
            <a:ext cx="128922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/>
              <a:t>Repositório Aula:</a:t>
            </a:r>
            <a:br>
              <a:rPr lang="en-US"/>
            </a:br>
            <a:r>
              <a:rPr lang="en-US" sz="1800" u="sng">
                <a:solidFill>
                  <a:schemeClr val="hlink"/>
                </a:solidFill>
                <a:hlinkClick r:id="rId3"/>
              </a:rPr>
              <a:t>https://github.com/luan-tavares/unifaat2026-dw-node-bimestre01</a:t>
            </a:r>
            <a:br>
              <a:rPr lang="en-US" sz="1800"/>
            </a:br>
            <a:br>
              <a:rPr lang="en-US" sz="1800"/>
            </a:br>
            <a:br>
              <a:rPr b="1" lang="en-US" sz="3200"/>
            </a:br>
            <a:r>
              <a:rPr b="1" lang="en-US" sz="3200"/>
              <a:t>TF:</a:t>
            </a:r>
            <a:br>
              <a:rPr lang="en-US" sz="1800"/>
            </a:br>
            <a:r>
              <a:rPr lang="en-US" sz="1800" u="sng">
                <a:solidFill>
                  <a:schemeClr val="hlink"/>
                </a:solidFill>
                <a:hlinkClick r:id="rId4"/>
              </a:rPr>
              <a:t>https://docs.google.com/forms/d/e/1FAIpQLSd2VsSyFoXujVdi5AYFtztApbmKkUuXpIZU2b3SFJl9UYh6Mw/viewform?usp=publish-editor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Curso Node.js:</a:t>
            </a:r>
            <a:endParaRPr b="1"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hlink"/>
                </a:solidFill>
                <a:hlinkClick r:id="rId5"/>
              </a:rPr>
              <a:t>https://www.youtube.com/watch?v=093dIOCNeIc&amp;list=PLQCmSnNFVYnT1-oeDOSBnt164802rkegc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/>
          <p:nvPr/>
        </p:nvSpPr>
        <p:spPr>
          <a:xfrm>
            <a:off x="793075" y="623292"/>
            <a:ext cx="5528310" cy="6727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4200"/>
              <a:buFont typeface="Inter"/>
              <a:buNone/>
            </a:pPr>
            <a:r>
              <a:rPr b="1" i="0" lang="en-US" sz="42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O que é uma função?</a:t>
            </a:r>
            <a:endParaRPr b="0" i="0" sz="4200" u="none" cap="none" strike="noStrike"/>
          </a:p>
        </p:txBody>
      </p:sp>
      <p:sp>
        <p:nvSpPr>
          <p:cNvPr id="74" name="Google Shape;74;p19"/>
          <p:cNvSpPr/>
          <p:nvPr/>
        </p:nvSpPr>
        <p:spPr>
          <a:xfrm>
            <a:off x="638175" y="1602462"/>
            <a:ext cx="6569393" cy="2657951"/>
          </a:xfrm>
          <a:prstGeom prst="roundRect">
            <a:avLst>
              <a:gd fmla="val 5832" name="adj"/>
            </a:avLst>
          </a:prstGeom>
          <a:solidFill>
            <a:srgbClr val="00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9"/>
          <p:cNvSpPr/>
          <p:nvPr/>
        </p:nvSpPr>
        <p:spPr>
          <a:xfrm>
            <a:off x="853440" y="1806773"/>
            <a:ext cx="6138862" cy="6727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Uma função é uma unidade de execução reutilizável</a:t>
            </a:r>
            <a:endParaRPr b="0" i="0" sz="2100" u="none" cap="none" strike="noStrike"/>
          </a:p>
        </p:txBody>
      </p:sp>
      <p:sp>
        <p:nvSpPr>
          <p:cNvPr id="76" name="Google Shape;76;p19"/>
          <p:cNvSpPr/>
          <p:nvPr/>
        </p:nvSpPr>
        <p:spPr>
          <a:xfrm>
            <a:off x="853440" y="2683788"/>
            <a:ext cx="6138862" cy="671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Você define o comportamento uma vez e pode executá-lo quantas vezes quiser.</a:t>
            </a:r>
            <a:endParaRPr b="0" i="0" sz="1650" u="none" cap="none" strike="noStrike"/>
          </a:p>
        </p:txBody>
      </p:sp>
      <p:sp>
        <p:nvSpPr>
          <p:cNvPr id="77" name="Google Shape;77;p19"/>
          <p:cNvSpPr/>
          <p:nvPr/>
        </p:nvSpPr>
        <p:spPr>
          <a:xfrm>
            <a:off x="7585353" y="1806773"/>
            <a:ext cx="3248501" cy="336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Dois momentos distintos</a:t>
            </a:r>
            <a:endParaRPr b="0" i="0" sz="2100" u="none" cap="none" strike="noStrike"/>
          </a:p>
        </p:txBody>
      </p:sp>
      <p:sp>
        <p:nvSpPr>
          <p:cNvPr id="78" name="Google Shape;78;p19"/>
          <p:cNvSpPr/>
          <p:nvPr/>
        </p:nvSpPr>
        <p:spPr>
          <a:xfrm>
            <a:off x="7585353" y="2372916"/>
            <a:ext cx="6259592" cy="1657707"/>
          </a:xfrm>
          <a:prstGeom prst="roundRect">
            <a:avLst>
              <a:gd fmla="val 5455" name="adj"/>
            </a:avLst>
          </a:prstGeom>
          <a:solidFill>
            <a:srgbClr val="CCEAFF"/>
          </a:solidFill>
          <a:ln cap="flat" cmpd="sng" w="9525">
            <a:solidFill>
              <a:srgbClr val="B2D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9"/>
          <p:cNvSpPr/>
          <p:nvPr/>
        </p:nvSpPr>
        <p:spPr>
          <a:xfrm>
            <a:off x="7592973" y="2380536"/>
            <a:ext cx="3122176" cy="1642467"/>
          </a:xfrm>
          <a:prstGeom prst="roundRect">
            <a:avLst>
              <a:gd fmla="val 5505" name="adj"/>
            </a:avLst>
          </a:prstGeom>
          <a:solidFill>
            <a:srgbClr val="CCE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9"/>
          <p:cNvSpPr/>
          <p:nvPr/>
        </p:nvSpPr>
        <p:spPr>
          <a:xfrm>
            <a:off x="7808238" y="2595801"/>
            <a:ext cx="2691051" cy="336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Declaração</a:t>
            </a:r>
            <a:endParaRPr b="0" i="0" sz="2100" u="none" cap="none" strike="noStrike"/>
          </a:p>
        </p:txBody>
      </p:sp>
      <p:sp>
        <p:nvSpPr>
          <p:cNvPr id="81" name="Google Shape;81;p19"/>
          <p:cNvSpPr/>
          <p:nvPr/>
        </p:nvSpPr>
        <p:spPr>
          <a:xfrm>
            <a:off x="7808238" y="3136463"/>
            <a:ext cx="2691646" cy="671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O código existe, mas não roda</a:t>
            </a:r>
            <a:endParaRPr b="0" i="0" sz="1650" u="none" cap="none" strike="noStrike"/>
          </a:p>
        </p:txBody>
      </p:sp>
      <p:sp>
        <p:nvSpPr>
          <p:cNvPr id="82" name="Google Shape;82;p19"/>
          <p:cNvSpPr/>
          <p:nvPr/>
        </p:nvSpPr>
        <p:spPr>
          <a:xfrm>
            <a:off x="10715149" y="2380536"/>
            <a:ext cx="3122176" cy="1642467"/>
          </a:xfrm>
          <a:prstGeom prst="rect">
            <a:avLst/>
          </a:prstGeom>
          <a:solidFill>
            <a:srgbClr val="CCE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9"/>
          <p:cNvSpPr/>
          <p:nvPr/>
        </p:nvSpPr>
        <p:spPr>
          <a:xfrm>
            <a:off x="10715149" y="2380536"/>
            <a:ext cx="30480" cy="1642467"/>
          </a:xfrm>
          <a:prstGeom prst="roundRect">
            <a:avLst>
              <a:gd fmla="val 296656" name="adj"/>
            </a:avLst>
          </a:prstGeom>
          <a:solidFill>
            <a:srgbClr val="B2D0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9"/>
          <p:cNvSpPr/>
          <p:nvPr/>
        </p:nvSpPr>
        <p:spPr>
          <a:xfrm>
            <a:off x="10930414" y="2595801"/>
            <a:ext cx="2691051" cy="336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Execução</a:t>
            </a:r>
            <a:endParaRPr b="0" i="0" sz="2100" u="none" cap="none" strike="noStrike"/>
          </a:p>
        </p:txBody>
      </p:sp>
      <p:sp>
        <p:nvSpPr>
          <p:cNvPr id="85" name="Google Shape;85;p19"/>
          <p:cNvSpPr/>
          <p:nvPr/>
        </p:nvSpPr>
        <p:spPr>
          <a:xfrm>
            <a:off x="10930414" y="3136463"/>
            <a:ext cx="2691646" cy="671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A função é chamada e roda</a:t>
            </a:r>
            <a:endParaRPr b="0" i="0" sz="1650" u="none" cap="none" strike="noStrike"/>
          </a:p>
        </p:txBody>
      </p:sp>
      <p:sp>
        <p:nvSpPr>
          <p:cNvPr id="86" name="Google Shape;86;p19"/>
          <p:cNvSpPr/>
          <p:nvPr/>
        </p:nvSpPr>
        <p:spPr>
          <a:xfrm>
            <a:off x="793075" y="4490204"/>
            <a:ext cx="13044249" cy="2001083"/>
          </a:xfrm>
          <a:prstGeom prst="roundRect">
            <a:avLst>
              <a:gd fmla="val 4519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9"/>
          <p:cNvSpPr/>
          <p:nvPr/>
        </p:nvSpPr>
        <p:spPr>
          <a:xfrm>
            <a:off x="782360" y="4490204"/>
            <a:ext cx="13065681" cy="2001083"/>
          </a:xfrm>
          <a:prstGeom prst="roundRect">
            <a:avLst>
              <a:gd fmla="val 1614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9"/>
          <p:cNvSpPr/>
          <p:nvPr/>
        </p:nvSpPr>
        <p:spPr>
          <a:xfrm>
            <a:off x="997625" y="4651653"/>
            <a:ext cx="12635151" cy="1678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function saudacao() {</a:t>
            </a:r>
            <a:endParaRPr b="0" i="0" sz="1650" u="none" cap="none" strike="noStrike"/>
          </a:p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console.log("Olá"); // só roda na execução</a:t>
            </a:r>
            <a:endParaRPr b="0" i="0" sz="1650" u="none" cap="none" strike="noStrike"/>
          </a:p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650" u="none" cap="none" strike="noStrike"/>
          </a:p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SzPts val="1650"/>
              <a:buFont typeface="Arial"/>
              <a:buNone/>
            </a:pPr>
            <a:r>
              <a:t/>
            </a:r>
            <a:endParaRPr b="0" i="0" sz="1650" u="none" cap="none" strike="noStrike"/>
          </a:p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saudacao(); // aqui a função executa</a:t>
            </a:r>
            <a:endParaRPr b="0" i="0" sz="1650" u="none" cap="none" strike="noStrike"/>
          </a:p>
        </p:txBody>
      </p:sp>
      <p:sp>
        <p:nvSpPr>
          <p:cNvPr id="89" name="Google Shape;89;p19"/>
          <p:cNvSpPr/>
          <p:nvPr/>
        </p:nvSpPr>
        <p:spPr>
          <a:xfrm>
            <a:off x="793075" y="6721078"/>
            <a:ext cx="13044249" cy="885230"/>
          </a:xfrm>
          <a:prstGeom prst="roundRect">
            <a:avLst>
              <a:gd fmla="val 10214" name="adj"/>
            </a:avLst>
          </a:prstGeom>
          <a:solidFill>
            <a:srgbClr val="B3D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" name="Google Shape;9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340" y="7045643"/>
            <a:ext cx="269081" cy="21526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9"/>
          <p:cNvSpPr/>
          <p:nvPr/>
        </p:nvSpPr>
        <p:spPr>
          <a:xfrm>
            <a:off x="1492687" y="6979206"/>
            <a:ext cx="12129373" cy="335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Definir não é executar.</a:t>
            </a:r>
            <a:r>
              <a:rPr b="0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 execução só acontece quando a função é chamada.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/>
          <p:nvPr/>
        </p:nvSpPr>
        <p:spPr>
          <a:xfrm>
            <a:off x="793790" y="1607939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Formatos de função</a:t>
            </a:r>
            <a:endParaRPr b="0" i="0" sz="4450" u="none" cap="none" strike="noStrike"/>
          </a:p>
        </p:txBody>
      </p:sp>
      <p:sp>
        <p:nvSpPr>
          <p:cNvPr id="98" name="Google Shape;98;p20"/>
          <p:cNvSpPr/>
          <p:nvPr/>
        </p:nvSpPr>
        <p:spPr>
          <a:xfrm>
            <a:off x="793790" y="2770346"/>
            <a:ext cx="4196358" cy="3233261"/>
          </a:xfrm>
          <a:prstGeom prst="roundRect">
            <a:avLst>
              <a:gd fmla="val 2946" name="adj"/>
            </a:avLst>
          </a:prstGeom>
          <a:solidFill>
            <a:srgbClr val="FFFFFF"/>
          </a:solidFill>
          <a:ln cap="flat" cmpd="sng" w="30475">
            <a:solidFill>
              <a:srgbClr val="B2D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0"/>
          <p:cNvSpPr/>
          <p:nvPr/>
        </p:nvSpPr>
        <p:spPr>
          <a:xfrm>
            <a:off x="824270" y="2800826"/>
            <a:ext cx="4135398" cy="680442"/>
          </a:xfrm>
          <a:prstGeom prst="roundRect">
            <a:avLst>
              <a:gd fmla="val 8626" name="adj"/>
            </a:avLst>
          </a:prstGeom>
          <a:solidFill>
            <a:srgbClr val="CCE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0"/>
          <p:cNvSpPr/>
          <p:nvPr/>
        </p:nvSpPr>
        <p:spPr>
          <a:xfrm>
            <a:off x="2721888" y="2924532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650"/>
              <a:buFont typeface="Inter"/>
              <a:buNone/>
            </a:pPr>
            <a:r>
              <a:rPr b="1" i="0" lang="en-US" sz="26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2650" u="none" cap="none" strike="noStrike"/>
          </a:p>
        </p:txBody>
      </p:sp>
      <p:sp>
        <p:nvSpPr>
          <p:cNvPr id="101" name="Google Shape;101;p20"/>
          <p:cNvSpPr/>
          <p:nvPr/>
        </p:nvSpPr>
        <p:spPr>
          <a:xfrm>
            <a:off x="1051084" y="370808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Tradicional</a:t>
            </a:r>
            <a:endParaRPr b="0" i="0" sz="2200" u="none" cap="none" strike="noStrike"/>
          </a:p>
        </p:txBody>
      </p:sp>
      <p:sp>
        <p:nvSpPr>
          <p:cNvPr id="102" name="Google Shape;102;p20"/>
          <p:cNvSpPr/>
          <p:nvPr/>
        </p:nvSpPr>
        <p:spPr>
          <a:xfrm>
            <a:off x="1051084" y="4317563"/>
            <a:ext cx="3681770" cy="1428750"/>
          </a:xfrm>
          <a:prstGeom prst="roundRect">
            <a:avLst>
              <a:gd fmla="val 6668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0"/>
          <p:cNvSpPr/>
          <p:nvPr/>
        </p:nvSpPr>
        <p:spPr>
          <a:xfrm>
            <a:off x="1039773" y="4317563"/>
            <a:ext cx="3704392" cy="1428750"/>
          </a:xfrm>
          <a:prstGeom prst="roundRect">
            <a:avLst>
              <a:gd fmla="val 2381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/>
          <p:nvPr/>
        </p:nvSpPr>
        <p:spPr>
          <a:xfrm>
            <a:off x="1266587" y="4487585"/>
            <a:ext cx="3250763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function soma(a, b) {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return a + b;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750" u="none" cap="none" strike="noStrike"/>
          </a:p>
        </p:txBody>
      </p:sp>
      <p:sp>
        <p:nvSpPr>
          <p:cNvPr id="105" name="Google Shape;105;p20"/>
          <p:cNvSpPr/>
          <p:nvPr/>
        </p:nvSpPr>
        <p:spPr>
          <a:xfrm>
            <a:off x="5216962" y="2770346"/>
            <a:ext cx="4196358" cy="3233261"/>
          </a:xfrm>
          <a:prstGeom prst="roundRect">
            <a:avLst>
              <a:gd fmla="val 2946" name="adj"/>
            </a:avLst>
          </a:prstGeom>
          <a:solidFill>
            <a:srgbClr val="FFFFFF"/>
          </a:solidFill>
          <a:ln cap="flat" cmpd="sng" w="30475">
            <a:solidFill>
              <a:srgbClr val="B2D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0"/>
          <p:cNvSpPr/>
          <p:nvPr/>
        </p:nvSpPr>
        <p:spPr>
          <a:xfrm>
            <a:off x="5247442" y="2800826"/>
            <a:ext cx="4135398" cy="680442"/>
          </a:xfrm>
          <a:prstGeom prst="roundRect">
            <a:avLst>
              <a:gd fmla="val 8626" name="adj"/>
            </a:avLst>
          </a:prstGeom>
          <a:solidFill>
            <a:srgbClr val="CCE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0"/>
          <p:cNvSpPr/>
          <p:nvPr/>
        </p:nvSpPr>
        <p:spPr>
          <a:xfrm>
            <a:off x="7145060" y="2924532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650"/>
              <a:buFont typeface="Inter"/>
              <a:buNone/>
            </a:pPr>
            <a:r>
              <a:rPr b="1" i="0" lang="en-US" sz="26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2650" u="none" cap="none" strike="noStrike"/>
          </a:p>
        </p:txBody>
      </p:sp>
      <p:sp>
        <p:nvSpPr>
          <p:cNvPr id="108" name="Google Shape;108;p20"/>
          <p:cNvSpPr/>
          <p:nvPr/>
        </p:nvSpPr>
        <p:spPr>
          <a:xfrm>
            <a:off x="5474256" y="370808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Arrow Function</a:t>
            </a:r>
            <a:endParaRPr b="0" i="0" sz="2200" u="none" cap="none" strike="noStrike"/>
          </a:p>
        </p:txBody>
      </p:sp>
      <p:sp>
        <p:nvSpPr>
          <p:cNvPr id="109" name="Google Shape;109;p20"/>
          <p:cNvSpPr/>
          <p:nvPr/>
        </p:nvSpPr>
        <p:spPr>
          <a:xfrm>
            <a:off x="5474256" y="4317563"/>
            <a:ext cx="3681770" cy="1428750"/>
          </a:xfrm>
          <a:prstGeom prst="roundRect">
            <a:avLst>
              <a:gd fmla="val 6668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0"/>
          <p:cNvSpPr/>
          <p:nvPr/>
        </p:nvSpPr>
        <p:spPr>
          <a:xfrm>
            <a:off x="5462945" y="4317563"/>
            <a:ext cx="3704392" cy="1428750"/>
          </a:xfrm>
          <a:prstGeom prst="roundRect">
            <a:avLst>
              <a:gd fmla="val 2381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/>
          <p:nvPr/>
        </p:nvSpPr>
        <p:spPr>
          <a:xfrm>
            <a:off x="5689759" y="4487585"/>
            <a:ext cx="3250763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const soma = (a, b) =&gt; {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return a + b;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};</a:t>
            </a:r>
            <a:endParaRPr b="0" i="0" sz="1750" u="none" cap="none" strike="noStrike"/>
          </a:p>
        </p:txBody>
      </p:sp>
      <p:sp>
        <p:nvSpPr>
          <p:cNvPr id="112" name="Google Shape;112;p20"/>
          <p:cNvSpPr/>
          <p:nvPr/>
        </p:nvSpPr>
        <p:spPr>
          <a:xfrm>
            <a:off x="9640133" y="2770346"/>
            <a:ext cx="4196358" cy="3233261"/>
          </a:xfrm>
          <a:prstGeom prst="roundRect">
            <a:avLst>
              <a:gd fmla="val 2946" name="adj"/>
            </a:avLst>
          </a:prstGeom>
          <a:solidFill>
            <a:srgbClr val="FFFFFF"/>
          </a:solidFill>
          <a:ln cap="flat" cmpd="sng" w="30475">
            <a:solidFill>
              <a:srgbClr val="B2D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0"/>
          <p:cNvSpPr/>
          <p:nvPr/>
        </p:nvSpPr>
        <p:spPr>
          <a:xfrm>
            <a:off x="9670613" y="2800826"/>
            <a:ext cx="4135398" cy="680442"/>
          </a:xfrm>
          <a:prstGeom prst="roundRect">
            <a:avLst>
              <a:gd fmla="val 8626" name="adj"/>
            </a:avLst>
          </a:prstGeom>
          <a:solidFill>
            <a:srgbClr val="CCE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0"/>
          <p:cNvSpPr/>
          <p:nvPr/>
        </p:nvSpPr>
        <p:spPr>
          <a:xfrm>
            <a:off x="11568232" y="2924532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650"/>
              <a:buFont typeface="Inter"/>
              <a:buNone/>
            </a:pPr>
            <a:r>
              <a:rPr b="1" i="0" lang="en-US" sz="26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2650" u="none" cap="none" strike="noStrike"/>
          </a:p>
        </p:txBody>
      </p:sp>
      <p:sp>
        <p:nvSpPr>
          <p:cNvPr id="115" name="Google Shape;115;p20"/>
          <p:cNvSpPr/>
          <p:nvPr/>
        </p:nvSpPr>
        <p:spPr>
          <a:xfrm>
            <a:off x="9897427" y="370808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Arrow Reduzida</a:t>
            </a:r>
            <a:endParaRPr b="0" i="0" sz="2200" u="none" cap="none" strike="noStrike"/>
          </a:p>
        </p:txBody>
      </p:sp>
      <p:sp>
        <p:nvSpPr>
          <p:cNvPr id="116" name="Google Shape;116;p20"/>
          <p:cNvSpPr/>
          <p:nvPr/>
        </p:nvSpPr>
        <p:spPr>
          <a:xfrm>
            <a:off x="9897427" y="4317563"/>
            <a:ext cx="3681770" cy="1065848"/>
          </a:xfrm>
          <a:prstGeom prst="roundRect">
            <a:avLst>
              <a:gd fmla="val 8938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0"/>
          <p:cNvSpPr/>
          <p:nvPr/>
        </p:nvSpPr>
        <p:spPr>
          <a:xfrm>
            <a:off x="9886117" y="4317563"/>
            <a:ext cx="3704392" cy="1065848"/>
          </a:xfrm>
          <a:prstGeom prst="roundRect">
            <a:avLst>
              <a:gd fmla="val 3192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/>
          <p:nvPr/>
        </p:nvSpPr>
        <p:spPr>
          <a:xfrm>
            <a:off x="10112931" y="4487585"/>
            <a:ext cx="325076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const soma = (a, b) =&gt;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a + b; // retorno implícito</a:t>
            </a:r>
            <a:endParaRPr b="0" i="0" sz="1750" u="none" cap="none" strike="noStrike"/>
          </a:p>
        </p:txBody>
      </p:sp>
      <p:sp>
        <p:nvSpPr>
          <p:cNvPr id="119" name="Google Shape;119;p20"/>
          <p:cNvSpPr/>
          <p:nvPr/>
        </p:nvSpPr>
        <p:spPr>
          <a:xfrm>
            <a:off x="793790" y="6258758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Arrow function é a forma mais enxuta — ideal para funções pequenas ou passadas como argumento.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/>
          <p:nvPr/>
        </p:nvSpPr>
        <p:spPr>
          <a:xfrm>
            <a:off x="793790" y="1457801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Input e Output</a:t>
            </a:r>
            <a:endParaRPr b="0" i="0" sz="4450" u="none" cap="none" strike="noStrike"/>
          </a:p>
        </p:txBody>
      </p:sp>
      <p:sp>
        <p:nvSpPr>
          <p:cNvPr id="126" name="Google Shape;126;p21"/>
          <p:cNvSpPr/>
          <p:nvPr/>
        </p:nvSpPr>
        <p:spPr>
          <a:xfrm>
            <a:off x="793790" y="2761893"/>
            <a:ext cx="6244709" cy="2517458"/>
          </a:xfrm>
          <a:prstGeom prst="roundRect">
            <a:avLst>
              <a:gd fmla="val 3784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1"/>
          <p:cNvSpPr/>
          <p:nvPr/>
        </p:nvSpPr>
        <p:spPr>
          <a:xfrm>
            <a:off x="782479" y="2761893"/>
            <a:ext cx="6267331" cy="2517458"/>
          </a:xfrm>
          <a:prstGeom prst="roundRect">
            <a:avLst>
              <a:gd fmla="val 1352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1"/>
          <p:cNvSpPr/>
          <p:nvPr/>
        </p:nvSpPr>
        <p:spPr>
          <a:xfrm>
            <a:off x="1009293" y="2931914"/>
            <a:ext cx="5813703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function soma(a, b) {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return a + b;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const resultado = soma(2, 3);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console.log(resultado); // 5</a:t>
            </a:r>
            <a:endParaRPr b="0" i="0" sz="1750" u="none" cap="none" strike="noStrike"/>
          </a:p>
        </p:txBody>
      </p:sp>
      <p:pic>
        <p:nvPicPr>
          <p:cNvPr descr="preencoded.png" id="129" name="Google Shape;12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84532" y="2768918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1"/>
          <p:cNvSpPr/>
          <p:nvPr/>
        </p:nvSpPr>
        <p:spPr>
          <a:xfrm>
            <a:off x="8336637" y="276189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Parâmetros</a:t>
            </a:r>
            <a:endParaRPr b="0" i="0" sz="2200" u="none" cap="none" strike="noStrike"/>
          </a:p>
        </p:txBody>
      </p:sp>
      <p:sp>
        <p:nvSpPr>
          <p:cNvPr id="131" name="Google Shape;131;p21"/>
          <p:cNvSpPr/>
          <p:nvPr/>
        </p:nvSpPr>
        <p:spPr>
          <a:xfrm>
            <a:off x="8336637" y="3343037"/>
            <a:ext cx="5507593" cy="3705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a, b</a:t>
            </a: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— definidos na declaração</a:t>
            </a:r>
            <a:endParaRPr b="0" i="0" sz="1750" u="none" cap="none" strike="noStrike"/>
          </a:p>
        </p:txBody>
      </p:sp>
      <p:pic>
        <p:nvPicPr>
          <p:cNvPr descr="preencoded.png" id="132" name="Google Shape;13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84532" y="4174212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1"/>
          <p:cNvSpPr/>
          <p:nvPr/>
        </p:nvSpPr>
        <p:spPr>
          <a:xfrm>
            <a:off x="8336637" y="416718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Argumentos</a:t>
            </a:r>
            <a:endParaRPr b="0" i="0" sz="2200" u="none" cap="none" strike="noStrike"/>
          </a:p>
        </p:txBody>
      </p:sp>
      <p:sp>
        <p:nvSpPr>
          <p:cNvPr id="134" name="Google Shape;134;p21"/>
          <p:cNvSpPr/>
          <p:nvPr/>
        </p:nvSpPr>
        <p:spPr>
          <a:xfrm>
            <a:off x="8336637" y="4748332"/>
            <a:ext cx="5507593" cy="3705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2, 3</a:t>
            </a: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— passados na execução</a:t>
            </a:r>
            <a:endParaRPr b="0" i="0" sz="1750" u="none" cap="none" strike="noStrike"/>
          </a:p>
        </p:txBody>
      </p:sp>
      <p:pic>
        <p:nvPicPr>
          <p:cNvPr descr="preencoded.png" id="135" name="Google Shape;13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84532" y="5579507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1"/>
          <p:cNvSpPr/>
          <p:nvPr/>
        </p:nvSpPr>
        <p:spPr>
          <a:xfrm>
            <a:off x="8336637" y="557248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Retorno</a:t>
            </a:r>
            <a:endParaRPr b="0" i="0" sz="2200" u="none" cap="none" strike="noStrike"/>
          </a:p>
        </p:txBody>
      </p:sp>
      <p:sp>
        <p:nvSpPr>
          <p:cNvPr id="137" name="Google Shape;137;p21"/>
          <p:cNvSpPr/>
          <p:nvPr/>
        </p:nvSpPr>
        <p:spPr>
          <a:xfrm>
            <a:off x="8336637" y="6153626"/>
            <a:ext cx="55075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O valor produzido pela função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/>
          <p:nvPr/>
        </p:nvSpPr>
        <p:spPr>
          <a:xfrm>
            <a:off x="793790" y="1154192"/>
            <a:ext cx="5387102" cy="6886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4200"/>
              <a:buFont typeface="Inter"/>
              <a:buNone/>
            </a:pPr>
            <a:r>
              <a:rPr b="1" i="0" lang="en-US" sz="42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O papel do </a:t>
            </a:r>
            <a:r>
              <a:rPr b="1" i="0" lang="en-US" sz="42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endParaRPr b="0" i="0" sz="4200" u="none" cap="none" strike="noStrike"/>
          </a:p>
        </p:txBody>
      </p:sp>
      <p:sp>
        <p:nvSpPr>
          <p:cNvPr id="144" name="Google Shape;144;p22"/>
          <p:cNvSpPr/>
          <p:nvPr/>
        </p:nvSpPr>
        <p:spPr>
          <a:xfrm>
            <a:off x="793790" y="2354580"/>
            <a:ext cx="3415070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Dois papéis fundamentais</a:t>
            </a:r>
            <a:endParaRPr b="0" i="0" sz="2100" u="none" cap="none" strike="noStrike"/>
          </a:p>
        </p:txBody>
      </p:sp>
      <p:sp>
        <p:nvSpPr>
          <p:cNvPr id="145" name="Google Shape;145;p22"/>
          <p:cNvSpPr/>
          <p:nvPr/>
        </p:nvSpPr>
        <p:spPr>
          <a:xfrm>
            <a:off x="793790" y="2921437"/>
            <a:ext cx="3026926" cy="1996083"/>
          </a:xfrm>
          <a:prstGeom prst="roundRect">
            <a:avLst>
              <a:gd fmla="val 4534" name="adj"/>
            </a:avLst>
          </a:prstGeom>
          <a:solidFill>
            <a:srgbClr val="CCEAFF"/>
          </a:solidFill>
          <a:ln cap="flat" cmpd="sng" w="9525">
            <a:solidFill>
              <a:srgbClr val="B2D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2"/>
          <p:cNvSpPr/>
          <p:nvPr/>
        </p:nvSpPr>
        <p:spPr>
          <a:xfrm>
            <a:off x="1016794" y="3144441"/>
            <a:ext cx="2580918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Define a saída</a:t>
            </a:r>
            <a:endParaRPr b="0" i="0" sz="2100" u="none" cap="none" strike="noStrike"/>
          </a:p>
        </p:txBody>
      </p:sp>
      <p:sp>
        <p:nvSpPr>
          <p:cNvPr id="147" name="Google Shape;147;p22"/>
          <p:cNvSpPr/>
          <p:nvPr/>
        </p:nvSpPr>
        <p:spPr>
          <a:xfrm>
            <a:off x="1016794" y="3685699"/>
            <a:ext cx="2580918" cy="672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O valor que a função devolve</a:t>
            </a:r>
            <a:endParaRPr b="0" i="0" sz="1650" u="none" cap="none" strike="noStrike"/>
          </a:p>
        </p:txBody>
      </p:sp>
      <p:sp>
        <p:nvSpPr>
          <p:cNvPr id="148" name="Google Shape;148;p22"/>
          <p:cNvSpPr/>
          <p:nvPr/>
        </p:nvSpPr>
        <p:spPr>
          <a:xfrm>
            <a:off x="4025384" y="2921437"/>
            <a:ext cx="3026926" cy="1996083"/>
          </a:xfrm>
          <a:prstGeom prst="roundRect">
            <a:avLst>
              <a:gd fmla="val 4534" name="adj"/>
            </a:avLst>
          </a:prstGeom>
          <a:solidFill>
            <a:srgbClr val="CCEAFF"/>
          </a:solidFill>
          <a:ln cap="flat" cmpd="sng" w="9525">
            <a:solidFill>
              <a:srgbClr val="B2D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2"/>
          <p:cNvSpPr/>
          <p:nvPr/>
        </p:nvSpPr>
        <p:spPr>
          <a:xfrm>
            <a:off x="4248388" y="3144441"/>
            <a:ext cx="2580918" cy="673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Interrompe a execução</a:t>
            </a:r>
            <a:endParaRPr b="0" i="0" sz="2100" u="none" cap="none" strike="noStrike"/>
          </a:p>
        </p:txBody>
      </p:sp>
      <p:sp>
        <p:nvSpPr>
          <p:cNvPr id="150" name="Google Shape;150;p22"/>
          <p:cNvSpPr/>
          <p:nvPr/>
        </p:nvSpPr>
        <p:spPr>
          <a:xfrm>
            <a:off x="4248388" y="4022288"/>
            <a:ext cx="2580918" cy="672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O código após o return nunca roda</a:t>
            </a:r>
            <a:endParaRPr b="0" i="0" sz="1650" u="none" cap="none" strike="noStrike"/>
          </a:p>
        </p:txBody>
      </p:sp>
      <p:sp>
        <p:nvSpPr>
          <p:cNvPr id="151" name="Google Shape;151;p22"/>
          <p:cNvSpPr/>
          <p:nvPr/>
        </p:nvSpPr>
        <p:spPr>
          <a:xfrm>
            <a:off x="7585710" y="2380178"/>
            <a:ext cx="6258520" cy="3348157"/>
          </a:xfrm>
          <a:prstGeom prst="roundRect">
            <a:avLst>
              <a:gd fmla="val 2703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2"/>
          <p:cNvSpPr/>
          <p:nvPr/>
        </p:nvSpPr>
        <p:spPr>
          <a:xfrm>
            <a:off x="7574994" y="2380178"/>
            <a:ext cx="6279952" cy="3348157"/>
          </a:xfrm>
          <a:prstGeom prst="roundRect">
            <a:avLst>
              <a:gd fmla="val 965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2"/>
          <p:cNvSpPr/>
          <p:nvPr/>
        </p:nvSpPr>
        <p:spPr>
          <a:xfrm>
            <a:off x="7790378" y="2541746"/>
            <a:ext cx="5849183" cy="3025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function validar(idade) {</a:t>
            </a:r>
            <a:endParaRPr b="0" i="0" sz="1650" u="none" cap="none" strike="noStrike"/>
          </a:p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if (idade &lt; 18) {</a:t>
            </a:r>
            <a:endParaRPr b="0" i="0" sz="1650" u="none" cap="none" strike="noStrike"/>
          </a:p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return "Menor de idade"; // para aqui</a:t>
            </a:r>
            <a:endParaRPr b="0" i="0" sz="1650" u="none" cap="none" strike="noStrike"/>
          </a:p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1650" u="none" cap="none" strike="noStrike"/>
          </a:p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return "Maior de idade";</a:t>
            </a:r>
            <a:endParaRPr b="0" i="0" sz="1650" u="none" cap="none" strike="noStrike"/>
          </a:p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650" u="none" cap="none" strike="noStrike"/>
          </a:p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SzPts val="1650"/>
              <a:buFont typeface="Arial"/>
              <a:buNone/>
            </a:pPr>
            <a:r>
              <a:t/>
            </a:r>
            <a:endParaRPr b="0" i="0" sz="1650" u="none" cap="none" strike="noStrike"/>
          </a:p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console.log(validar(15)); // "Menor de idade"</a:t>
            </a:r>
            <a:endParaRPr b="0" i="0" sz="1650" u="none" cap="none" strike="noStrike"/>
          </a:p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console.log(validar(20)); // "Maior de idade"</a:t>
            </a:r>
            <a:endParaRPr b="0" i="0" sz="1650" u="none" cap="none" strike="noStrike"/>
          </a:p>
        </p:txBody>
      </p:sp>
      <p:sp>
        <p:nvSpPr>
          <p:cNvPr id="154" name="Google Shape;154;p22"/>
          <p:cNvSpPr/>
          <p:nvPr/>
        </p:nvSpPr>
        <p:spPr>
          <a:xfrm>
            <a:off x="793790" y="6188869"/>
            <a:ext cx="13042821" cy="886420"/>
          </a:xfrm>
          <a:prstGeom prst="roundRect">
            <a:avLst>
              <a:gd fmla="val 10210" name="adj"/>
            </a:avLst>
          </a:prstGeom>
          <a:solidFill>
            <a:srgbClr val="B3D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5" name="Google Shape;1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174" y="6513433"/>
            <a:ext cx="269319" cy="215384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2"/>
          <p:cNvSpPr/>
          <p:nvPr/>
        </p:nvSpPr>
        <p:spPr>
          <a:xfrm>
            <a:off x="1493877" y="6447353"/>
            <a:ext cx="12127349" cy="336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Esse padrão evita o </a:t>
            </a:r>
            <a:r>
              <a:rPr b="1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else</a:t>
            </a:r>
            <a:r>
              <a:rPr b="0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 simplifica o fluxo da função.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/>
          <p:nvPr/>
        </p:nvSpPr>
        <p:spPr>
          <a:xfrm>
            <a:off x="793799" y="1889875"/>
            <a:ext cx="10744200" cy="6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Funções sem retorno (Procedures)</a:t>
            </a:r>
            <a:endParaRPr b="0" i="0" sz="4450" u="none" cap="none" strike="noStrike"/>
          </a:p>
        </p:txBody>
      </p:sp>
      <p:sp>
        <p:nvSpPr>
          <p:cNvPr id="163" name="Google Shape;163;p23"/>
          <p:cNvSpPr/>
          <p:nvPr/>
        </p:nvSpPr>
        <p:spPr>
          <a:xfrm>
            <a:off x="793790" y="3193971"/>
            <a:ext cx="6244709" cy="2517458"/>
          </a:xfrm>
          <a:prstGeom prst="roundRect">
            <a:avLst>
              <a:gd fmla="val 3784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3"/>
          <p:cNvSpPr/>
          <p:nvPr/>
        </p:nvSpPr>
        <p:spPr>
          <a:xfrm>
            <a:off x="782479" y="3193971"/>
            <a:ext cx="6267331" cy="2517458"/>
          </a:xfrm>
          <a:prstGeom prst="roundRect">
            <a:avLst>
              <a:gd fmla="val 1352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3"/>
          <p:cNvSpPr/>
          <p:nvPr/>
        </p:nvSpPr>
        <p:spPr>
          <a:xfrm>
            <a:off x="1009293" y="3363992"/>
            <a:ext cx="5813703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function logMensagem(msg) {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console.log(msg); // efeito colateral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const retorno = logMensagem("Olá");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console.log(retorno); // undefined</a:t>
            </a:r>
            <a:endParaRPr b="0" i="0" sz="1750" u="none" cap="none" strike="noStrike"/>
          </a:p>
        </p:txBody>
      </p:sp>
      <p:sp>
        <p:nvSpPr>
          <p:cNvPr id="166" name="Google Shape;166;p23"/>
          <p:cNvSpPr/>
          <p:nvPr/>
        </p:nvSpPr>
        <p:spPr>
          <a:xfrm>
            <a:off x="7436168" y="2938820"/>
            <a:ext cx="6571417" cy="3400901"/>
          </a:xfrm>
          <a:prstGeom prst="roundRect">
            <a:avLst>
              <a:gd fmla="val 4802" name="adj"/>
            </a:avLst>
          </a:prstGeom>
          <a:solidFill>
            <a:srgbClr val="00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3"/>
          <p:cNvSpPr/>
          <p:nvPr/>
        </p:nvSpPr>
        <p:spPr>
          <a:xfrm>
            <a:off x="7662982" y="316563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Funções </a:t>
            </a:r>
            <a:r>
              <a:rPr b="1" i="1" lang="en-US" sz="2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void</a:t>
            </a:r>
            <a:endParaRPr b="0" i="0" sz="2200" u="none" cap="none" strike="noStrike"/>
          </a:p>
        </p:txBody>
      </p:sp>
      <p:sp>
        <p:nvSpPr>
          <p:cNvPr id="168" name="Google Shape;168;p23"/>
          <p:cNvSpPr/>
          <p:nvPr/>
        </p:nvSpPr>
        <p:spPr>
          <a:xfrm>
            <a:off x="7662982" y="3746778"/>
            <a:ext cx="611778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Existem apenas para executar uma ação:</a:t>
            </a:r>
            <a:endParaRPr b="0" i="0" sz="1750" u="none" cap="none" strike="noStrike"/>
          </a:p>
        </p:txBody>
      </p:sp>
      <p:sp>
        <p:nvSpPr>
          <p:cNvPr id="169" name="Google Shape;169;p23"/>
          <p:cNvSpPr/>
          <p:nvPr/>
        </p:nvSpPr>
        <p:spPr>
          <a:xfrm>
            <a:off x="7662982" y="4313753"/>
            <a:ext cx="6117788" cy="1247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Imprimir algo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Salvar dados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Disparar uma operação</a:t>
            </a:r>
            <a:endParaRPr b="0" i="0" sz="1750" u="none" cap="none" strike="noStrike"/>
          </a:p>
        </p:txBody>
      </p:sp>
      <p:sp>
        <p:nvSpPr>
          <p:cNvPr id="170" name="Google Shape;170;p23"/>
          <p:cNvSpPr/>
          <p:nvPr/>
        </p:nvSpPr>
        <p:spPr>
          <a:xfrm>
            <a:off x="7662982" y="5765125"/>
            <a:ext cx="6117788" cy="3705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Sem </a:t>
            </a:r>
            <a:r>
              <a:rPr b="0" i="0" lang="en-US" sz="1750" u="none" cap="none" strike="noStrike">
                <a:solidFill>
                  <a:srgbClr val="FFFFFF"/>
                </a:solidFill>
                <a:highlight>
                  <a:srgbClr val="0D4369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7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explícito → retorna </a:t>
            </a:r>
            <a:r>
              <a:rPr b="0" i="0" lang="en-US" sz="1750" u="none" cap="none" strike="noStrike">
                <a:solidFill>
                  <a:srgbClr val="FFFFFF"/>
                </a:solidFill>
                <a:highlight>
                  <a:srgbClr val="0D4369"/>
                </a:highlight>
                <a:latin typeface="Consolas"/>
                <a:ea typeface="Consolas"/>
                <a:cs typeface="Consolas"/>
                <a:sym typeface="Consolas"/>
              </a:rPr>
              <a:t>undefined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4"/>
          <p:cNvSpPr/>
          <p:nvPr/>
        </p:nvSpPr>
        <p:spPr>
          <a:xfrm>
            <a:off x="793790" y="1293971"/>
            <a:ext cx="578108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First Class Functions</a:t>
            </a:r>
            <a:endParaRPr b="0" i="0" sz="4450" u="none" cap="none" strike="noStrike"/>
          </a:p>
        </p:txBody>
      </p:sp>
      <p:sp>
        <p:nvSpPr>
          <p:cNvPr id="177" name="Google Shape;177;p24"/>
          <p:cNvSpPr/>
          <p:nvPr/>
        </p:nvSpPr>
        <p:spPr>
          <a:xfrm>
            <a:off x="793790" y="2456378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Em JavaScript, </a:t>
            </a:r>
            <a:r>
              <a:rPr b="1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funções são valores</a:t>
            </a: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— e podem circular pelo programa como qualquer outro valor.</a:t>
            </a:r>
            <a:endParaRPr b="0" i="0" sz="1750" u="none" cap="none" strike="noStrike"/>
          </a:p>
        </p:txBody>
      </p:sp>
      <p:pic>
        <p:nvPicPr>
          <p:cNvPr descr="preencoded.png" id="178" name="Google Shape;17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3074432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4"/>
          <p:cNvSpPr/>
          <p:nvPr/>
        </p:nvSpPr>
        <p:spPr>
          <a:xfrm>
            <a:off x="793790" y="392489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Armazenar</a:t>
            </a:r>
            <a:endParaRPr b="0" i="0" sz="2200" u="none" cap="none" strike="noStrike"/>
          </a:p>
        </p:txBody>
      </p:sp>
      <p:sp>
        <p:nvSpPr>
          <p:cNvPr id="180" name="Google Shape;180;p24"/>
          <p:cNvSpPr/>
          <p:nvPr/>
        </p:nvSpPr>
        <p:spPr>
          <a:xfrm>
            <a:off x="793790" y="4415314"/>
            <a:ext cx="637960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Em variáveis ou constantes</a:t>
            </a:r>
            <a:endParaRPr b="0" i="0" sz="1750" u="none" cap="none" strike="noStrike"/>
          </a:p>
        </p:txBody>
      </p:sp>
      <p:pic>
        <p:nvPicPr>
          <p:cNvPr descr="preencoded.png" id="181" name="Google Shape;18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56884" y="3074432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4"/>
          <p:cNvSpPr/>
          <p:nvPr/>
        </p:nvSpPr>
        <p:spPr>
          <a:xfrm>
            <a:off x="7456884" y="3924895"/>
            <a:ext cx="335601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Passar como argumento</a:t>
            </a:r>
            <a:endParaRPr b="0" i="0" sz="2200" u="none" cap="none" strike="noStrike"/>
          </a:p>
        </p:txBody>
      </p:sp>
      <p:sp>
        <p:nvSpPr>
          <p:cNvPr id="183" name="Google Shape;183;p24"/>
          <p:cNvSpPr/>
          <p:nvPr/>
        </p:nvSpPr>
        <p:spPr>
          <a:xfrm>
            <a:off x="7456884" y="4415314"/>
            <a:ext cx="637972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Para outra função executar</a:t>
            </a:r>
            <a:endParaRPr b="0" i="0" sz="1750" u="none" cap="none" strike="noStrike"/>
          </a:p>
        </p:txBody>
      </p:sp>
      <p:pic>
        <p:nvPicPr>
          <p:cNvPr descr="preencoded.png" id="184" name="Google Shape;18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90" y="5231844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4"/>
          <p:cNvSpPr/>
          <p:nvPr/>
        </p:nvSpPr>
        <p:spPr>
          <a:xfrm>
            <a:off x="793790" y="608230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Retornar</a:t>
            </a:r>
            <a:endParaRPr b="0" i="0" sz="2200" u="none" cap="none" strike="noStrike"/>
          </a:p>
        </p:txBody>
      </p:sp>
      <p:sp>
        <p:nvSpPr>
          <p:cNvPr id="186" name="Google Shape;186;p24"/>
          <p:cNvSpPr/>
          <p:nvPr/>
        </p:nvSpPr>
        <p:spPr>
          <a:xfrm>
            <a:off x="793790" y="6572726"/>
            <a:ext cx="637960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Como resultado de outra função</a:t>
            </a:r>
            <a:endParaRPr b="0" i="0" sz="1750" u="none" cap="none" strike="noStrike"/>
          </a:p>
        </p:txBody>
      </p:sp>
      <p:pic>
        <p:nvPicPr>
          <p:cNvPr descr="preencoded.png" id="187" name="Google Shape;187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56884" y="5231844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4"/>
          <p:cNvSpPr/>
          <p:nvPr/>
        </p:nvSpPr>
        <p:spPr>
          <a:xfrm>
            <a:off x="7456884" y="608230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Colocar em objetos</a:t>
            </a:r>
            <a:endParaRPr b="0" i="0" sz="2200" u="none" cap="none" strike="noStrike"/>
          </a:p>
        </p:txBody>
      </p:sp>
      <p:sp>
        <p:nvSpPr>
          <p:cNvPr id="189" name="Google Shape;189;p24"/>
          <p:cNvSpPr/>
          <p:nvPr/>
        </p:nvSpPr>
        <p:spPr>
          <a:xfrm>
            <a:off x="7456884" y="6572726"/>
            <a:ext cx="637972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Como valor de uma propriedade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5"/>
          <p:cNvSpPr/>
          <p:nvPr/>
        </p:nvSpPr>
        <p:spPr>
          <a:xfrm>
            <a:off x="793790" y="1344216"/>
            <a:ext cx="8225076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Função vs. Retorno da função</a:t>
            </a:r>
            <a:endParaRPr b="0" i="0" sz="4450" u="none" cap="none" strike="noStrike"/>
          </a:p>
        </p:txBody>
      </p:sp>
      <p:sp>
        <p:nvSpPr>
          <p:cNvPr id="196" name="Google Shape;196;p25"/>
          <p:cNvSpPr/>
          <p:nvPr/>
        </p:nvSpPr>
        <p:spPr>
          <a:xfrm>
            <a:off x="793790" y="2619970"/>
            <a:ext cx="401669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Armazenando a função em si</a:t>
            </a:r>
            <a:endParaRPr b="0" i="0" sz="2200" u="none" cap="none" strike="noStrike"/>
          </a:p>
        </p:txBody>
      </p:sp>
      <p:sp>
        <p:nvSpPr>
          <p:cNvPr id="197" name="Google Shape;197;p25"/>
          <p:cNvSpPr/>
          <p:nvPr/>
        </p:nvSpPr>
        <p:spPr>
          <a:xfrm>
            <a:off x="793790" y="3229451"/>
            <a:ext cx="6244709" cy="1065848"/>
          </a:xfrm>
          <a:prstGeom prst="roundRect">
            <a:avLst>
              <a:gd fmla="val 8938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5"/>
          <p:cNvSpPr/>
          <p:nvPr/>
        </p:nvSpPr>
        <p:spPr>
          <a:xfrm>
            <a:off x="782479" y="3229451"/>
            <a:ext cx="6267331" cy="1065848"/>
          </a:xfrm>
          <a:prstGeom prst="roundRect">
            <a:avLst>
              <a:gd fmla="val 3192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5"/>
          <p:cNvSpPr/>
          <p:nvPr/>
        </p:nvSpPr>
        <p:spPr>
          <a:xfrm>
            <a:off x="1009293" y="3399473"/>
            <a:ext cx="581370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const a = teste; // referência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console.log(a);  // imprime a função</a:t>
            </a:r>
            <a:endParaRPr b="0" i="0" sz="1750" u="none" cap="none" strike="noStrike"/>
          </a:p>
        </p:txBody>
      </p:sp>
      <p:sp>
        <p:nvSpPr>
          <p:cNvPr id="200" name="Google Shape;200;p25"/>
          <p:cNvSpPr/>
          <p:nvPr/>
        </p:nvSpPr>
        <p:spPr>
          <a:xfrm>
            <a:off x="793790" y="4663830"/>
            <a:ext cx="6244709" cy="35957"/>
          </a:xfrm>
          <a:prstGeom prst="rect">
            <a:avLst/>
          </a:prstGeom>
          <a:solidFill>
            <a:srgbClr val="00365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5"/>
          <p:cNvSpPr/>
          <p:nvPr/>
        </p:nvSpPr>
        <p:spPr>
          <a:xfrm>
            <a:off x="793790" y="4954905"/>
            <a:ext cx="3275171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Armazenando o retorno</a:t>
            </a:r>
            <a:endParaRPr b="0" i="0" sz="2200" u="none" cap="none" strike="noStrike"/>
          </a:p>
        </p:txBody>
      </p:sp>
      <p:sp>
        <p:nvSpPr>
          <p:cNvPr id="202" name="Google Shape;202;p25"/>
          <p:cNvSpPr/>
          <p:nvPr/>
        </p:nvSpPr>
        <p:spPr>
          <a:xfrm>
            <a:off x="793790" y="5564386"/>
            <a:ext cx="6244709" cy="1065848"/>
          </a:xfrm>
          <a:prstGeom prst="roundRect">
            <a:avLst>
              <a:gd fmla="val 8938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5"/>
          <p:cNvSpPr/>
          <p:nvPr/>
        </p:nvSpPr>
        <p:spPr>
          <a:xfrm>
            <a:off x="782479" y="5564386"/>
            <a:ext cx="6267331" cy="1065848"/>
          </a:xfrm>
          <a:prstGeom prst="roundRect">
            <a:avLst>
              <a:gd fmla="val 3192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5"/>
          <p:cNvSpPr/>
          <p:nvPr/>
        </p:nvSpPr>
        <p:spPr>
          <a:xfrm>
            <a:off x="1009293" y="5734407"/>
            <a:ext cx="581370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const b = teste(); // executa agora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console.log(b);    // imprime "resultado"</a:t>
            </a:r>
            <a:endParaRPr b="0" i="0" sz="1750" u="none" cap="none" strike="noStrike"/>
          </a:p>
        </p:txBody>
      </p:sp>
      <p:sp>
        <p:nvSpPr>
          <p:cNvPr id="205" name="Google Shape;205;p25"/>
          <p:cNvSpPr/>
          <p:nvPr/>
        </p:nvSpPr>
        <p:spPr>
          <a:xfrm>
            <a:off x="7436168" y="2393156"/>
            <a:ext cx="6571417" cy="4492228"/>
          </a:xfrm>
          <a:prstGeom prst="roundRect">
            <a:avLst>
              <a:gd fmla="val 3636" name="adj"/>
            </a:avLst>
          </a:prstGeom>
          <a:solidFill>
            <a:srgbClr val="00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5"/>
          <p:cNvSpPr/>
          <p:nvPr/>
        </p:nvSpPr>
        <p:spPr>
          <a:xfrm>
            <a:off x="7662982" y="261997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diferença crítica</a:t>
            </a:r>
            <a:endParaRPr b="0" i="0" sz="2200" u="none" cap="none" strike="noStrike"/>
          </a:p>
        </p:txBody>
      </p:sp>
      <p:sp>
        <p:nvSpPr>
          <p:cNvPr id="207" name="Google Shape;207;p25"/>
          <p:cNvSpPr/>
          <p:nvPr/>
        </p:nvSpPr>
        <p:spPr>
          <a:xfrm>
            <a:off x="7662982" y="3201114"/>
            <a:ext cx="6117788" cy="3705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highlight>
                  <a:srgbClr val="0D4369"/>
                </a:highlight>
                <a:latin typeface="Consolas"/>
                <a:ea typeface="Consolas"/>
                <a:cs typeface="Consolas"/>
                <a:sym typeface="Consolas"/>
              </a:rPr>
              <a:t>teste</a:t>
            </a:r>
            <a:r>
              <a:rPr b="0" i="0" lang="en-US" sz="17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→ a função em si, sem executar</a:t>
            </a:r>
            <a:endParaRPr b="0" i="0" sz="1750" u="none" cap="none" strike="noStrike"/>
          </a:p>
        </p:txBody>
      </p:sp>
      <p:sp>
        <p:nvSpPr>
          <p:cNvPr id="208" name="Google Shape;208;p25"/>
          <p:cNvSpPr/>
          <p:nvPr/>
        </p:nvSpPr>
        <p:spPr>
          <a:xfrm>
            <a:off x="7662982" y="3775710"/>
            <a:ext cx="6117788" cy="3705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highlight>
                  <a:srgbClr val="0D4369"/>
                </a:highlight>
                <a:latin typeface="Consolas"/>
                <a:ea typeface="Consolas"/>
                <a:cs typeface="Consolas"/>
                <a:sym typeface="Consolas"/>
              </a:rPr>
              <a:t>teste()</a:t>
            </a:r>
            <a:r>
              <a:rPr b="0" i="0" lang="en-US" sz="17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→ executa e entrega o retorno</a:t>
            </a:r>
            <a:endParaRPr b="0" i="0" sz="1750" u="none" cap="none" strike="noStrike"/>
          </a:p>
        </p:txBody>
      </p:sp>
      <p:sp>
        <p:nvSpPr>
          <p:cNvPr id="209" name="Google Shape;209;p25"/>
          <p:cNvSpPr/>
          <p:nvPr/>
        </p:nvSpPr>
        <p:spPr>
          <a:xfrm>
            <a:off x="7662982" y="4514764"/>
            <a:ext cx="6117788" cy="35957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5"/>
          <p:cNvSpPr/>
          <p:nvPr/>
        </p:nvSpPr>
        <p:spPr>
          <a:xfrm>
            <a:off x="7662982" y="4805839"/>
            <a:ext cx="6117788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confusão entre esses dois casos está na raiz da dificuldade com </a:t>
            </a:r>
            <a:r>
              <a:rPr b="1" i="0" lang="en-US" sz="17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callbacks</a:t>
            </a:r>
            <a:r>
              <a:rPr b="0" i="0" lang="en-US" sz="17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6"/>
          <p:cNvSpPr/>
          <p:nvPr/>
        </p:nvSpPr>
        <p:spPr>
          <a:xfrm>
            <a:off x="793790" y="871538"/>
            <a:ext cx="6959322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Funções auto-invocáveis</a:t>
            </a:r>
            <a:endParaRPr b="0" i="0" sz="4450" u="none" cap="none" strike="noStrike"/>
          </a:p>
        </p:txBody>
      </p:sp>
      <p:sp>
        <p:nvSpPr>
          <p:cNvPr id="217" name="Google Shape;217;p26"/>
          <p:cNvSpPr/>
          <p:nvPr/>
        </p:nvSpPr>
        <p:spPr>
          <a:xfrm>
            <a:off x="793790" y="2175629"/>
            <a:ext cx="6244709" cy="2517458"/>
          </a:xfrm>
          <a:prstGeom prst="roundRect">
            <a:avLst>
              <a:gd fmla="val 3784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6"/>
          <p:cNvSpPr/>
          <p:nvPr/>
        </p:nvSpPr>
        <p:spPr>
          <a:xfrm>
            <a:off x="782479" y="2175629"/>
            <a:ext cx="6267331" cy="2517458"/>
          </a:xfrm>
          <a:prstGeom prst="roundRect">
            <a:avLst>
              <a:gd fmla="val 1352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6"/>
          <p:cNvSpPr/>
          <p:nvPr/>
        </p:nvSpPr>
        <p:spPr>
          <a:xfrm>
            <a:off x="1009293" y="2345650"/>
            <a:ext cx="5813703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(function () {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const segredo = "valor interno";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console.log(segredo); // funciona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})();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// console.log(segredo); — não existe aqui</a:t>
            </a:r>
            <a:endParaRPr b="0" i="0" sz="1750" u="none" cap="none" strike="noStrike"/>
          </a:p>
        </p:txBody>
      </p:sp>
      <p:sp>
        <p:nvSpPr>
          <p:cNvPr id="220" name="Google Shape;220;p26"/>
          <p:cNvSpPr/>
          <p:nvPr/>
        </p:nvSpPr>
        <p:spPr>
          <a:xfrm>
            <a:off x="793790" y="4948238"/>
            <a:ext cx="6244709" cy="2154555"/>
          </a:xfrm>
          <a:prstGeom prst="roundRect">
            <a:avLst>
              <a:gd fmla="val 4422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6"/>
          <p:cNvSpPr/>
          <p:nvPr/>
        </p:nvSpPr>
        <p:spPr>
          <a:xfrm>
            <a:off x="782479" y="4948238"/>
            <a:ext cx="6267331" cy="2154555"/>
          </a:xfrm>
          <a:prstGeom prst="roundRect">
            <a:avLst>
              <a:gd fmla="val 1579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6"/>
          <p:cNvSpPr/>
          <p:nvPr/>
        </p:nvSpPr>
        <p:spPr>
          <a:xfrm>
            <a:off x="1009293" y="5118259"/>
            <a:ext cx="5813703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const resultado = (function () {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return 10 + 5;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})();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console.log(resultado); // 15</a:t>
            </a:r>
            <a:endParaRPr b="0" i="0" sz="1750" u="none" cap="none" strike="noStrike"/>
          </a:p>
        </p:txBody>
      </p:sp>
      <p:sp>
        <p:nvSpPr>
          <p:cNvPr id="223" name="Google Shape;223;p26"/>
          <p:cNvSpPr/>
          <p:nvPr/>
        </p:nvSpPr>
        <p:spPr>
          <a:xfrm>
            <a:off x="7599521" y="214729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Por que usar?</a:t>
            </a:r>
            <a:endParaRPr b="0" i="0" sz="2200" u="none" cap="none" strike="noStrike"/>
          </a:p>
        </p:txBody>
      </p:sp>
      <p:sp>
        <p:nvSpPr>
          <p:cNvPr id="224" name="Google Shape;224;p26"/>
          <p:cNvSpPr/>
          <p:nvPr/>
        </p:nvSpPr>
        <p:spPr>
          <a:xfrm>
            <a:off x="7569041" y="2726293"/>
            <a:ext cx="60960" cy="1722239"/>
          </a:xfrm>
          <a:prstGeom prst="rect">
            <a:avLst/>
          </a:prstGeom>
          <a:solidFill>
            <a:srgbClr val="00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6"/>
          <p:cNvSpPr/>
          <p:nvPr/>
        </p:nvSpPr>
        <p:spPr>
          <a:xfrm>
            <a:off x="7887295" y="2756773"/>
            <a:ext cx="2692837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Isolamento de escopo</a:t>
            </a:r>
            <a:endParaRPr b="0" i="0" sz="2200" u="none" cap="none" strike="noStrike"/>
          </a:p>
        </p:txBody>
      </p:sp>
      <p:sp>
        <p:nvSpPr>
          <p:cNvPr id="226" name="Google Shape;226;p26"/>
          <p:cNvSpPr/>
          <p:nvPr/>
        </p:nvSpPr>
        <p:spPr>
          <a:xfrm>
            <a:off x="7887295" y="3692247"/>
            <a:ext cx="269283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Variáveis internas não vazam para fora</a:t>
            </a:r>
            <a:endParaRPr b="0" i="0" sz="1750" u="none" cap="none" strike="noStrike"/>
          </a:p>
        </p:txBody>
      </p:sp>
      <p:sp>
        <p:nvSpPr>
          <p:cNvPr id="227" name="Google Shape;227;p26"/>
          <p:cNvSpPr/>
          <p:nvPr/>
        </p:nvSpPr>
        <p:spPr>
          <a:xfrm>
            <a:off x="10833140" y="2726293"/>
            <a:ext cx="60960" cy="1722239"/>
          </a:xfrm>
          <a:prstGeom prst="rect">
            <a:avLst/>
          </a:prstGeom>
          <a:solidFill>
            <a:srgbClr val="00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6"/>
          <p:cNvSpPr/>
          <p:nvPr/>
        </p:nvSpPr>
        <p:spPr>
          <a:xfrm>
            <a:off x="11151394" y="2756773"/>
            <a:ext cx="2692837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Execução imediata</a:t>
            </a:r>
            <a:endParaRPr b="0" i="0" sz="2200" u="none" cap="none" strike="noStrike"/>
          </a:p>
        </p:txBody>
      </p:sp>
      <p:sp>
        <p:nvSpPr>
          <p:cNvPr id="229" name="Google Shape;229;p26"/>
          <p:cNvSpPr/>
          <p:nvPr/>
        </p:nvSpPr>
        <p:spPr>
          <a:xfrm>
            <a:off x="11151394" y="3337917"/>
            <a:ext cx="269283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Nasce e roda no mesmo momento</a:t>
            </a:r>
            <a:endParaRPr b="0" i="0" sz="1750" u="none" cap="none" strike="noStrike"/>
          </a:p>
        </p:txBody>
      </p:sp>
      <p:sp>
        <p:nvSpPr>
          <p:cNvPr id="230" name="Google Shape;230;p26"/>
          <p:cNvSpPr/>
          <p:nvPr/>
        </p:nvSpPr>
        <p:spPr>
          <a:xfrm>
            <a:off x="7569041" y="4841200"/>
            <a:ext cx="60960" cy="1005007"/>
          </a:xfrm>
          <a:prstGeom prst="rect">
            <a:avLst/>
          </a:prstGeom>
          <a:solidFill>
            <a:srgbClr val="00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6"/>
          <p:cNvSpPr/>
          <p:nvPr/>
        </p:nvSpPr>
        <p:spPr>
          <a:xfrm>
            <a:off x="7887295" y="487168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Controle preciso</a:t>
            </a:r>
            <a:endParaRPr b="0" i="0" sz="2200" u="none" cap="none" strike="noStrike"/>
          </a:p>
        </p:txBody>
      </p:sp>
      <p:sp>
        <p:nvSpPr>
          <p:cNvPr id="232" name="Google Shape;232;p26"/>
          <p:cNvSpPr/>
          <p:nvPr/>
        </p:nvSpPr>
        <p:spPr>
          <a:xfrm>
            <a:off x="7887295" y="5452824"/>
            <a:ext cx="595693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Você define </a:t>
            </a:r>
            <a:r>
              <a:rPr b="0" i="1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quando</a:t>
            </a: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o escopo existe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7"/>
          <p:cNvSpPr/>
          <p:nvPr/>
        </p:nvSpPr>
        <p:spPr>
          <a:xfrm>
            <a:off x="793790" y="1174909"/>
            <a:ext cx="8063627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Objetos com comportamento</a:t>
            </a:r>
            <a:endParaRPr b="0" i="0" sz="4450" u="none" cap="none" strike="noStrike"/>
          </a:p>
        </p:txBody>
      </p:sp>
      <p:sp>
        <p:nvSpPr>
          <p:cNvPr id="239" name="Google Shape;239;p27"/>
          <p:cNvSpPr/>
          <p:nvPr/>
        </p:nvSpPr>
        <p:spPr>
          <a:xfrm>
            <a:off x="793790" y="2479000"/>
            <a:ext cx="6244709" cy="3243263"/>
          </a:xfrm>
          <a:prstGeom prst="roundRect">
            <a:avLst>
              <a:gd fmla="val 293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7"/>
          <p:cNvSpPr/>
          <p:nvPr/>
        </p:nvSpPr>
        <p:spPr>
          <a:xfrm>
            <a:off x="782475" y="2479000"/>
            <a:ext cx="6267300" cy="4013100"/>
          </a:xfrm>
          <a:prstGeom prst="roundRect">
            <a:avLst>
              <a:gd fmla="val 1049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7"/>
          <p:cNvSpPr/>
          <p:nvPr/>
        </p:nvSpPr>
        <p:spPr>
          <a:xfrm>
            <a:off x="1009293" y="2649022"/>
            <a:ext cx="5813703" cy="2903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const pessoa = {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nome: "João",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falar: function () {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console.log("Olá");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};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pessoa.falar(); // "Olá"</a:t>
            </a:r>
            <a:endParaRPr b="0" i="0" sz="1750" u="none" cap="none" strike="noStrike"/>
          </a:p>
        </p:txBody>
      </p:sp>
      <p:sp>
        <p:nvSpPr>
          <p:cNvPr id="242" name="Google Shape;242;p27"/>
          <p:cNvSpPr/>
          <p:nvPr/>
        </p:nvSpPr>
        <p:spPr>
          <a:xfrm>
            <a:off x="7436168" y="2223849"/>
            <a:ext cx="6571417" cy="4830842"/>
          </a:xfrm>
          <a:prstGeom prst="roundRect">
            <a:avLst>
              <a:gd fmla="val 3381" name="adj"/>
            </a:avLst>
          </a:prstGeom>
          <a:solidFill>
            <a:srgbClr val="00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7"/>
          <p:cNvSpPr/>
          <p:nvPr/>
        </p:nvSpPr>
        <p:spPr>
          <a:xfrm>
            <a:off x="7662982" y="2450663"/>
            <a:ext cx="4486751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Objeto = dado + comportamento</a:t>
            </a:r>
            <a:endParaRPr b="0" i="0" sz="2200" u="none" cap="none" strike="noStrike"/>
          </a:p>
        </p:txBody>
      </p:sp>
      <p:pic>
        <p:nvPicPr>
          <p:cNvPr descr="preencoded.png" id="244" name="Google Shape;24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47992" y="3067169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7"/>
          <p:cNvSpPr/>
          <p:nvPr/>
        </p:nvSpPr>
        <p:spPr>
          <a:xfrm>
            <a:off x="8400098" y="306014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Antes</a:t>
            </a:r>
            <a:endParaRPr b="0" i="0" sz="2200" u="none" cap="none" strike="noStrike"/>
          </a:p>
        </p:txBody>
      </p:sp>
      <p:sp>
        <p:nvSpPr>
          <p:cNvPr id="246" name="Google Shape;246;p27"/>
          <p:cNvSpPr/>
          <p:nvPr/>
        </p:nvSpPr>
        <p:spPr>
          <a:xfrm>
            <a:off x="8400098" y="3641288"/>
            <a:ext cx="538067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Objeto como estrutura chave-valor</a:t>
            </a:r>
            <a:endParaRPr b="0" i="0" sz="1750" u="none" cap="none" strike="noStrike"/>
          </a:p>
        </p:txBody>
      </p:sp>
      <p:pic>
        <p:nvPicPr>
          <p:cNvPr descr="preencoded.png" id="247" name="Google Shape;24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47992" y="4464844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7"/>
          <p:cNvSpPr/>
          <p:nvPr/>
        </p:nvSpPr>
        <p:spPr>
          <a:xfrm>
            <a:off x="8400098" y="445781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Agora</a:t>
            </a:r>
            <a:endParaRPr b="0" i="0" sz="2200" u="none" cap="none" strike="noStrike"/>
          </a:p>
        </p:txBody>
      </p:sp>
      <p:sp>
        <p:nvSpPr>
          <p:cNvPr id="249" name="Google Shape;249;p27"/>
          <p:cNvSpPr/>
          <p:nvPr/>
        </p:nvSpPr>
        <p:spPr>
          <a:xfrm>
            <a:off x="8400098" y="5038963"/>
            <a:ext cx="538067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 valor pode ser uma </a:t>
            </a:r>
            <a:r>
              <a:rPr b="1" i="0" lang="en-US" sz="17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função</a:t>
            </a:r>
            <a:endParaRPr b="0" i="0" sz="1750" u="none" cap="none" strike="noStrike"/>
          </a:p>
        </p:txBody>
      </p:sp>
      <p:pic>
        <p:nvPicPr>
          <p:cNvPr descr="preencoded.png" id="250" name="Google Shape;25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47992" y="5862518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7"/>
          <p:cNvSpPr/>
          <p:nvPr/>
        </p:nvSpPr>
        <p:spPr>
          <a:xfrm>
            <a:off x="8400098" y="585549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Resultado</a:t>
            </a:r>
            <a:endParaRPr b="0" i="0" sz="2200" u="none" cap="none" strike="noStrike"/>
          </a:p>
        </p:txBody>
      </p:sp>
      <p:sp>
        <p:nvSpPr>
          <p:cNvPr id="252" name="Google Shape;252;p27"/>
          <p:cNvSpPr/>
          <p:nvPr/>
        </p:nvSpPr>
        <p:spPr>
          <a:xfrm>
            <a:off x="8400098" y="6436638"/>
            <a:ext cx="538067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Função dentro de objeto = </a:t>
            </a:r>
            <a:r>
              <a:rPr b="1" i="0" lang="en-US" sz="17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método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8"/>
          <p:cNvSpPr/>
          <p:nvPr/>
        </p:nvSpPr>
        <p:spPr>
          <a:xfrm>
            <a:off x="793790" y="666274"/>
            <a:ext cx="5801201" cy="637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4000"/>
              <a:buFont typeface="Inter"/>
              <a:buNone/>
            </a:pPr>
            <a:r>
              <a:rPr b="1" i="0" lang="en-US" sz="40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Funções de Alta Ordem</a:t>
            </a:r>
            <a:endParaRPr b="0" i="0" sz="4000" u="none" cap="none" strike="noStrike"/>
          </a:p>
        </p:txBody>
      </p:sp>
      <p:sp>
        <p:nvSpPr>
          <p:cNvPr id="259" name="Google Shape;259;p28"/>
          <p:cNvSpPr/>
          <p:nvPr/>
        </p:nvSpPr>
        <p:spPr>
          <a:xfrm>
            <a:off x="793790" y="1763435"/>
            <a:ext cx="3023949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Função como parâmetro</a:t>
            </a:r>
            <a:endParaRPr b="0" i="0" sz="2000" u="none" cap="none" strike="noStrike"/>
          </a:p>
        </p:txBody>
      </p:sp>
      <p:sp>
        <p:nvSpPr>
          <p:cNvPr id="260" name="Google Shape;260;p28"/>
          <p:cNvSpPr/>
          <p:nvPr/>
        </p:nvSpPr>
        <p:spPr>
          <a:xfrm>
            <a:off x="793790" y="2288977"/>
            <a:ext cx="6272451" cy="1857375"/>
          </a:xfrm>
          <a:prstGeom prst="roundRect">
            <a:avLst>
              <a:gd fmla="val 4616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8"/>
          <p:cNvSpPr/>
          <p:nvPr/>
        </p:nvSpPr>
        <p:spPr>
          <a:xfrm>
            <a:off x="783675" y="2288975"/>
            <a:ext cx="6292800" cy="2064000"/>
          </a:xfrm>
          <a:prstGeom prst="roundRect">
            <a:avLst>
              <a:gd fmla="val 1649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8"/>
          <p:cNvSpPr/>
          <p:nvPr/>
        </p:nvSpPr>
        <p:spPr>
          <a:xfrm>
            <a:off x="987742" y="2441972"/>
            <a:ext cx="5884545" cy="1551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function executar(fn) {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fn();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executar(() =&gt; console.log("Rodou"));</a:t>
            </a:r>
            <a:endParaRPr b="0" i="0" sz="1600" u="none" cap="none" strike="noStrike"/>
          </a:p>
        </p:txBody>
      </p:sp>
      <p:sp>
        <p:nvSpPr>
          <p:cNvPr id="263" name="Google Shape;263;p28"/>
          <p:cNvSpPr/>
          <p:nvPr/>
        </p:nvSpPr>
        <p:spPr>
          <a:xfrm>
            <a:off x="793790" y="4353044"/>
            <a:ext cx="2649855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Função como retorno</a:t>
            </a:r>
            <a:endParaRPr b="0" i="0" sz="2000" u="none" cap="none" strike="noStrike"/>
          </a:p>
        </p:txBody>
      </p:sp>
      <p:sp>
        <p:nvSpPr>
          <p:cNvPr id="264" name="Google Shape;264;p28"/>
          <p:cNvSpPr/>
          <p:nvPr/>
        </p:nvSpPr>
        <p:spPr>
          <a:xfrm>
            <a:off x="793790" y="4878586"/>
            <a:ext cx="6272451" cy="2477929"/>
          </a:xfrm>
          <a:prstGeom prst="roundRect">
            <a:avLst>
              <a:gd fmla="val 3460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8"/>
          <p:cNvSpPr/>
          <p:nvPr/>
        </p:nvSpPr>
        <p:spPr>
          <a:xfrm>
            <a:off x="783675" y="4878573"/>
            <a:ext cx="6292800" cy="2883300"/>
          </a:xfrm>
          <a:prstGeom prst="roundRect">
            <a:avLst>
              <a:gd fmla="val 1236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/>
          <p:nvPr/>
        </p:nvSpPr>
        <p:spPr>
          <a:xfrm>
            <a:off x="987742" y="5031581"/>
            <a:ext cx="5884545" cy="2171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function criarFuncao() {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return function () {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return "Resultado final";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};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console.log(criarFuncao()()); </a:t>
            </a:r>
            <a:endParaRPr b="0" i="0" sz="1600" u="none" cap="none" strike="noStrike"/>
          </a:p>
        </p:txBody>
      </p:sp>
      <p:sp>
        <p:nvSpPr>
          <p:cNvPr id="267" name="Google Shape;267;p28"/>
          <p:cNvSpPr/>
          <p:nvPr/>
        </p:nvSpPr>
        <p:spPr>
          <a:xfrm>
            <a:off x="7571780" y="1763435"/>
            <a:ext cx="4223861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High Order Function é aquela que:</a:t>
            </a:r>
            <a:endParaRPr b="0" i="0" sz="2000" u="none" cap="none" strike="noStrike"/>
          </a:p>
        </p:txBody>
      </p:sp>
      <p:sp>
        <p:nvSpPr>
          <p:cNvPr id="268" name="Google Shape;268;p28"/>
          <p:cNvSpPr/>
          <p:nvPr/>
        </p:nvSpPr>
        <p:spPr>
          <a:xfrm>
            <a:off x="7571780" y="2288977"/>
            <a:ext cx="3044309" cy="1236226"/>
          </a:xfrm>
          <a:prstGeom prst="roundRect">
            <a:avLst>
              <a:gd fmla="val 6936" name="adj"/>
            </a:avLst>
          </a:prstGeom>
          <a:solidFill>
            <a:srgbClr val="CCEAFF"/>
          </a:solidFill>
          <a:ln cap="flat" cmpd="sng" w="9525">
            <a:solidFill>
              <a:srgbClr val="B2D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8"/>
          <p:cNvSpPr/>
          <p:nvPr/>
        </p:nvSpPr>
        <p:spPr>
          <a:xfrm>
            <a:off x="7783473" y="2500670"/>
            <a:ext cx="2551748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Recebe função</a:t>
            </a:r>
            <a:endParaRPr b="0" i="0" sz="2000" u="none" cap="none" strike="noStrike"/>
          </a:p>
        </p:txBody>
      </p:sp>
      <p:sp>
        <p:nvSpPr>
          <p:cNvPr id="270" name="Google Shape;270;p28"/>
          <p:cNvSpPr/>
          <p:nvPr/>
        </p:nvSpPr>
        <p:spPr>
          <a:xfrm>
            <a:off x="7783473" y="3003233"/>
            <a:ext cx="2620923" cy="310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como parâmetro</a:t>
            </a:r>
            <a:endParaRPr b="0" i="0" sz="1600" u="none" cap="none" strike="noStrike"/>
          </a:p>
        </p:txBody>
      </p:sp>
      <p:sp>
        <p:nvSpPr>
          <p:cNvPr id="271" name="Google Shape;271;p28"/>
          <p:cNvSpPr/>
          <p:nvPr/>
        </p:nvSpPr>
        <p:spPr>
          <a:xfrm>
            <a:off x="10799802" y="2288977"/>
            <a:ext cx="3044428" cy="1236226"/>
          </a:xfrm>
          <a:prstGeom prst="roundRect">
            <a:avLst>
              <a:gd fmla="val 6936" name="adj"/>
            </a:avLst>
          </a:prstGeom>
          <a:solidFill>
            <a:srgbClr val="CCEAFF"/>
          </a:solidFill>
          <a:ln cap="flat" cmpd="sng" w="9525">
            <a:solidFill>
              <a:srgbClr val="B2D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8"/>
          <p:cNvSpPr/>
          <p:nvPr/>
        </p:nvSpPr>
        <p:spPr>
          <a:xfrm>
            <a:off x="11011495" y="2500670"/>
            <a:ext cx="2551748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Retorna função</a:t>
            </a:r>
            <a:endParaRPr b="0" i="0" sz="2000" u="none" cap="none" strike="noStrike"/>
          </a:p>
        </p:txBody>
      </p:sp>
      <p:sp>
        <p:nvSpPr>
          <p:cNvPr id="273" name="Google Shape;273;p28"/>
          <p:cNvSpPr/>
          <p:nvPr/>
        </p:nvSpPr>
        <p:spPr>
          <a:xfrm>
            <a:off x="11011495" y="3003233"/>
            <a:ext cx="2621042" cy="310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como resultado</a:t>
            </a:r>
            <a:endParaRPr b="0" i="0" sz="1600" u="none" cap="none" strike="noStrike"/>
          </a:p>
        </p:txBody>
      </p:sp>
      <p:sp>
        <p:nvSpPr>
          <p:cNvPr id="274" name="Google Shape;274;p28"/>
          <p:cNvSpPr/>
          <p:nvPr/>
        </p:nvSpPr>
        <p:spPr>
          <a:xfrm>
            <a:off x="7571780" y="3731895"/>
            <a:ext cx="6272451" cy="1122521"/>
          </a:xfrm>
          <a:prstGeom prst="roundRect">
            <a:avLst>
              <a:gd fmla="val 7638" name="adj"/>
            </a:avLst>
          </a:prstGeom>
          <a:solidFill>
            <a:srgbClr val="B3D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5" name="Google Shape;27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5853" y="4036933"/>
            <a:ext cx="255151" cy="204073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8"/>
          <p:cNvSpPr/>
          <p:nvPr/>
        </p:nvSpPr>
        <p:spPr>
          <a:xfrm>
            <a:off x="8235077" y="3966567"/>
            <a:ext cx="5405080" cy="620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Aparece em métodos de array, eventos, promises e programação assíncrona.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9"/>
          <p:cNvSpPr/>
          <p:nvPr/>
        </p:nvSpPr>
        <p:spPr>
          <a:xfrm>
            <a:off x="793790" y="1662589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Callbacks</a:t>
            </a:r>
            <a:endParaRPr b="0" i="0" sz="4450" u="none" cap="none" strike="noStrike"/>
          </a:p>
        </p:txBody>
      </p:sp>
      <p:sp>
        <p:nvSpPr>
          <p:cNvPr id="283" name="Google Shape;283;p29"/>
          <p:cNvSpPr/>
          <p:nvPr/>
        </p:nvSpPr>
        <p:spPr>
          <a:xfrm>
            <a:off x="630436" y="2711529"/>
            <a:ext cx="6571417" cy="3855482"/>
          </a:xfrm>
          <a:prstGeom prst="roundRect">
            <a:avLst>
              <a:gd fmla="val 4236" name="adj"/>
            </a:avLst>
          </a:prstGeom>
          <a:solidFill>
            <a:srgbClr val="00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9"/>
          <p:cNvSpPr/>
          <p:nvPr/>
        </p:nvSpPr>
        <p:spPr>
          <a:xfrm>
            <a:off x="857250" y="2938343"/>
            <a:ext cx="310217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 que é uma callback?</a:t>
            </a:r>
            <a:endParaRPr b="0" i="0" sz="2200" u="none" cap="none" strike="noStrike"/>
          </a:p>
        </p:txBody>
      </p:sp>
      <p:sp>
        <p:nvSpPr>
          <p:cNvPr id="285" name="Google Shape;285;p29"/>
          <p:cNvSpPr/>
          <p:nvPr/>
        </p:nvSpPr>
        <p:spPr>
          <a:xfrm>
            <a:off x="857250" y="3519488"/>
            <a:ext cx="6117788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Uma função que você </a:t>
            </a:r>
            <a:r>
              <a:rPr b="1" i="0" lang="en-US" sz="17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entrega</a:t>
            </a:r>
            <a:r>
              <a:rPr b="0" i="0" lang="en-US" sz="17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para outro mecanismo executar </a:t>
            </a:r>
            <a:r>
              <a:rPr b="1" i="0" lang="en-US" sz="17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depois</a:t>
            </a:r>
            <a:r>
              <a:rPr b="0" i="0" lang="en-US" sz="17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750" u="none" cap="none" strike="noStrike"/>
          </a:p>
        </p:txBody>
      </p:sp>
      <p:sp>
        <p:nvSpPr>
          <p:cNvPr id="286" name="Google Shape;286;p29"/>
          <p:cNvSpPr/>
          <p:nvPr/>
        </p:nvSpPr>
        <p:spPr>
          <a:xfrm>
            <a:off x="857250" y="4613824"/>
            <a:ext cx="6117788" cy="35957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9"/>
          <p:cNvSpPr/>
          <p:nvPr/>
        </p:nvSpPr>
        <p:spPr>
          <a:xfrm>
            <a:off x="857250" y="4904899"/>
            <a:ext cx="6117788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Você não executa agora — você fornece o comportamento para que outro contexto o execute quando chegar a hora.</a:t>
            </a:r>
            <a:endParaRPr b="0" i="0" sz="1750" u="none" cap="none" strike="noStrike"/>
          </a:p>
        </p:txBody>
      </p:sp>
      <p:sp>
        <p:nvSpPr>
          <p:cNvPr id="288" name="Google Shape;288;p29"/>
          <p:cNvSpPr/>
          <p:nvPr/>
        </p:nvSpPr>
        <p:spPr>
          <a:xfrm>
            <a:off x="7599521" y="2966680"/>
            <a:ext cx="6244709" cy="1428750"/>
          </a:xfrm>
          <a:prstGeom prst="roundRect">
            <a:avLst>
              <a:gd fmla="val 6668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9"/>
          <p:cNvSpPr/>
          <p:nvPr/>
        </p:nvSpPr>
        <p:spPr>
          <a:xfrm>
            <a:off x="7588210" y="2966680"/>
            <a:ext cx="6267331" cy="1428750"/>
          </a:xfrm>
          <a:prstGeom prst="roundRect">
            <a:avLst>
              <a:gd fmla="val 2381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9"/>
          <p:cNvSpPr/>
          <p:nvPr/>
        </p:nvSpPr>
        <p:spPr>
          <a:xfrm>
            <a:off x="7815024" y="3136702"/>
            <a:ext cx="5813703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setTimeout(() =&gt; {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console.log("Executou após 2s");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}, 2000);</a:t>
            </a:r>
            <a:endParaRPr b="0" i="0" sz="1750" u="none" cap="none" strike="noStrike"/>
          </a:p>
        </p:txBody>
      </p:sp>
      <p:sp>
        <p:nvSpPr>
          <p:cNvPr id="291" name="Google Shape;291;p29"/>
          <p:cNvSpPr/>
          <p:nvPr/>
        </p:nvSpPr>
        <p:spPr>
          <a:xfrm>
            <a:off x="7569041" y="4620101"/>
            <a:ext cx="60960" cy="1722239"/>
          </a:xfrm>
          <a:prstGeom prst="rect">
            <a:avLst/>
          </a:prstGeom>
          <a:solidFill>
            <a:srgbClr val="00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9"/>
          <p:cNvSpPr/>
          <p:nvPr/>
        </p:nvSpPr>
        <p:spPr>
          <a:xfrm>
            <a:off x="7887295" y="4650581"/>
            <a:ext cx="2692837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setTimeout controla o tempo</a:t>
            </a:r>
            <a:endParaRPr b="0" i="0" sz="2200" u="none" cap="none" strike="noStrike"/>
          </a:p>
        </p:txBody>
      </p:sp>
      <p:sp>
        <p:nvSpPr>
          <p:cNvPr id="293" name="Google Shape;293;p29"/>
          <p:cNvSpPr/>
          <p:nvPr/>
        </p:nvSpPr>
        <p:spPr>
          <a:xfrm>
            <a:off x="7887295" y="5586055"/>
            <a:ext cx="269283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Você não decide quando os 2s terminam</a:t>
            </a:r>
            <a:endParaRPr b="0" i="0" sz="1750" u="none" cap="none" strike="noStrike"/>
          </a:p>
        </p:txBody>
      </p:sp>
      <p:sp>
        <p:nvSpPr>
          <p:cNvPr id="294" name="Google Shape;294;p29"/>
          <p:cNvSpPr/>
          <p:nvPr/>
        </p:nvSpPr>
        <p:spPr>
          <a:xfrm>
            <a:off x="10833140" y="4620101"/>
            <a:ext cx="60960" cy="1722239"/>
          </a:xfrm>
          <a:prstGeom prst="rect">
            <a:avLst/>
          </a:prstGeom>
          <a:solidFill>
            <a:srgbClr val="00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9"/>
          <p:cNvSpPr/>
          <p:nvPr/>
        </p:nvSpPr>
        <p:spPr>
          <a:xfrm>
            <a:off x="11151394" y="4650581"/>
            <a:ext cx="2692837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Você define o comportamento</a:t>
            </a:r>
            <a:endParaRPr b="0" i="0" sz="2200" u="none" cap="none" strike="noStrike"/>
          </a:p>
        </p:txBody>
      </p:sp>
      <p:sp>
        <p:nvSpPr>
          <p:cNvPr id="296" name="Google Shape;296;p29"/>
          <p:cNvSpPr/>
          <p:nvPr/>
        </p:nvSpPr>
        <p:spPr>
          <a:xfrm>
            <a:off x="11151394" y="5586055"/>
            <a:ext cx="269283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O que deve rodar quando chegar a hora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0"/>
          <p:cNvSpPr/>
          <p:nvPr/>
        </p:nvSpPr>
        <p:spPr>
          <a:xfrm>
            <a:off x="793790" y="770692"/>
            <a:ext cx="5168860" cy="637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4000"/>
              <a:buFont typeface="Inter"/>
              <a:buNone/>
            </a:pPr>
            <a:r>
              <a:rPr b="1" i="0" lang="en-US" sz="40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Inversão de Controle</a:t>
            </a:r>
            <a:endParaRPr b="0" i="0" sz="4000" u="none" cap="none" strike="noStrike"/>
          </a:p>
        </p:txBody>
      </p:sp>
      <p:pic>
        <p:nvPicPr>
          <p:cNvPr descr="preencoded.png" id="303" name="Google Shape;30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8911" y="1776055"/>
            <a:ext cx="9192578" cy="372237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0"/>
          <p:cNvSpPr/>
          <p:nvPr/>
        </p:nvSpPr>
        <p:spPr>
          <a:xfrm>
            <a:off x="3402898" y="3184816"/>
            <a:ext cx="2061678" cy="3301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050"/>
              <a:buFont typeface="Inter"/>
              <a:buNone/>
            </a:pPr>
            <a:r>
              <a:rPr b="1" i="0" lang="en-US" sz="20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Controle direto</a:t>
            </a:r>
            <a:endParaRPr b="0" i="0" sz="2050" u="none" cap="none" strike="noStrike"/>
          </a:p>
        </p:txBody>
      </p:sp>
      <p:sp>
        <p:nvSpPr>
          <p:cNvPr id="305" name="Google Shape;305;p30"/>
          <p:cNvSpPr/>
          <p:nvPr/>
        </p:nvSpPr>
        <p:spPr>
          <a:xfrm>
            <a:off x="3402898" y="3608853"/>
            <a:ext cx="2061678" cy="501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Você chama e controla o momento</a:t>
            </a:r>
            <a:endParaRPr b="0" i="0" sz="1650" u="none" cap="none" strike="noStrike"/>
          </a:p>
        </p:txBody>
      </p:sp>
      <p:sp>
        <p:nvSpPr>
          <p:cNvPr id="306" name="Google Shape;306;p30"/>
          <p:cNvSpPr/>
          <p:nvPr/>
        </p:nvSpPr>
        <p:spPr>
          <a:xfrm>
            <a:off x="6294310" y="3178947"/>
            <a:ext cx="2061679" cy="3301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050"/>
              <a:buFont typeface="Inter"/>
              <a:buNone/>
            </a:pPr>
            <a:r>
              <a:rPr b="1" i="0" lang="en-US" sz="20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Interseção</a:t>
            </a:r>
            <a:endParaRPr b="0" i="0" sz="2050" u="none" cap="none" strike="noStrike"/>
          </a:p>
        </p:txBody>
      </p:sp>
      <p:sp>
        <p:nvSpPr>
          <p:cNvPr id="307" name="Google Shape;307;p30"/>
          <p:cNvSpPr/>
          <p:nvPr/>
        </p:nvSpPr>
        <p:spPr>
          <a:xfrm>
            <a:off x="6294310" y="3602984"/>
            <a:ext cx="2061679" cy="501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Declaração clara do comportamento</a:t>
            </a:r>
            <a:endParaRPr b="0" i="0" sz="1650" u="none" cap="none" strike="noStrike"/>
          </a:p>
        </p:txBody>
      </p:sp>
      <p:sp>
        <p:nvSpPr>
          <p:cNvPr id="308" name="Google Shape;308;p30"/>
          <p:cNvSpPr/>
          <p:nvPr/>
        </p:nvSpPr>
        <p:spPr>
          <a:xfrm>
            <a:off x="9189756" y="3008012"/>
            <a:ext cx="2061678" cy="660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050"/>
              <a:buFont typeface="Inter"/>
              <a:buNone/>
            </a:pPr>
            <a:r>
              <a:rPr b="1" i="0" lang="en-US" sz="20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Inversão de controle</a:t>
            </a:r>
            <a:endParaRPr b="0" i="0" sz="2050" u="none" cap="none" strike="noStrike"/>
          </a:p>
        </p:txBody>
      </p:sp>
      <p:sp>
        <p:nvSpPr>
          <p:cNvPr id="309" name="Google Shape;309;p30"/>
          <p:cNvSpPr/>
          <p:nvPr/>
        </p:nvSpPr>
        <p:spPr>
          <a:xfrm>
            <a:off x="9189756" y="3762182"/>
            <a:ext cx="2061678" cy="501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Outro decide quando executar</a:t>
            </a:r>
            <a:endParaRPr b="0" i="0" sz="1650" u="none" cap="none" strike="noStrike"/>
          </a:p>
        </p:txBody>
      </p:sp>
      <p:sp>
        <p:nvSpPr>
          <p:cNvPr id="310" name="Google Shape;310;p30"/>
          <p:cNvSpPr/>
          <p:nvPr/>
        </p:nvSpPr>
        <p:spPr>
          <a:xfrm>
            <a:off x="793790" y="5705118"/>
            <a:ext cx="13042821" cy="310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Em eventos, o navegador chama sua função quando o usuário age — você só define </a:t>
            </a:r>
            <a:r>
              <a:rPr b="0" i="1" lang="en-US" sz="16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o que</a:t>
            </a:r>
            <a:r>
              <a:rPr b="0" i="0" lang="en-US" sz="16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deve acontecer, não </a:t>
            </a:r>
            <a:r>
              <a:rPr b="0" i="1" lang="en-US" sz="16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quando</a:t>
            </a:r>
            <a:r>
              <a:rPr b="0" i="0" lang="en-US" sz="16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600" u="none" cap="none" strike="noStrike"/>
          </a:p>
        </p:txBody>
      </p:sp>
      <p:sp>
        <p:nvSpPr>
          <p:cNvPr id="311" name="Google Shape;311;p30"/>
          <p:cNvSpPr/>
          <p:nvPr/>
        </p:nvSpPr>
        <p:spPr>
          <a:xfrm>
            <a:off x="793790" y="6222087"/>
            <a:ext cx="13042821" cy="1236821"/>
          </a:xfrm>
          <a:prstGeom prst="roundRect">
            <a:avLst>
              <a:gd fmla="val 6932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0"/>
          <p:cNvSpPr/>
          <p:nvPr/>
        </p:nvSpPr>
        <p:spPr>
          <a:xfrm>
            <a:off x="783669" y="6222087"/>
            <a:ext cx="13063061" cy="1236821"/>
          </a:xfrm>
          <a:prstGeom prst="roundRect">
            <a:avLst>
              <a:gd fmla="val 2476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/>
          <p:nvPr/>
        </p:nvSpPr>
        <p:spPr>
          <a:xfrm>
            <a:off x="987742" y="6375083"/>
            <a:ext cx="12654915" cy="930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document.addEventListener("click", () =&gt; {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console.log("Clicou!"); // você não controla quando isso ocorre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});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1"/>
          <p:cNvSpPr/>
          <p:nvPr/>
        </p:nvSpPr>
        <p:spPr>
          <a:xfrm>
            <a:off x="793790" y="767715"/>
            <a:ext cx="5132784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3550"/>
              <a:buFont typeface="Inter"/>
              <a:buNone/>
            </a:pPr>
            <a:r>
              <a:rPr b="1" i="0" lang="en-US" sz="35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Promises — introdução</a:t>
            </a:r>
            <a:endParaRPr b="0" i="0" sz="3550" u="none" cap="none" strike="noStrike"/>
          </a:p>
        </p:txBody>
      </p:sp>
      <p:sp>
        <p:nvSpPr>
          <p:cNvPr id="320" name="Google Shape;320;p31"/>
          <p:cNvSpPr/>
          <p:nvPr/>
        </p:nvSpPr>
        <p:spPr>
          <a:xfrm>
            <a:off x="793790" y="1715572"/>
            <a:ext cx="6300073" cy="3145631"/>
          </a:xfrm>
          <a:prstGeom prst="roundRect">
            <a:avLst>
              <a:gd fmla="val 2423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1"/>
          <p:cNvSpPr/>
          <p:nvPr/>
        </p:nvSpPr>
        <p:spPr>
          <a:xfrm>
            <a:off x="784750" y="1715576"/>
            <a:ext cx="6318300" cy="3935400"/>
          </a:xfrm>
          <a:prstGeom prst="roundRect">
            <a:avLst>
              <a:gd fmla="val 865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1"/>
          <p:cNvSpPr/>
          <p:nvPr/>
        </p:nvSpPr>
        <p:spPr>
          <a:xfrm>
            <a:off x="966192" y="1851660"/>
            <a:ext cx="5955268" cy="2873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const promessa = new Promise((resolve, reject) =&gt; {</a:t>
            </a:r>
            <a:endParaRPr b="0" i="0" sz="1400" u="none" cap="none" strike="noStrike"/>
          </a:p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if (sucesso) {</a:t>
            </a:r>
            <a:endParaRPr b="0" i="0" sz="1400" u="none" cap="none" strike="noStrike"/>
          </a:p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resolve("Deu certo");</a:t>
            </a:r>
            <a:endParaRPr b="0" i="0" sz="1400" u="none" cap="none" strike="noStrike"/>
          </a:p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return;</a:t>
            </a:r>
            <a:endParaRPr b="0" i="0" sz="1400" u="none" cap="none" strike="noStrike"/>
          </a:p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1400" u="none" cap="none" strike="noStrike"/>
          </a:p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reject("Deu erro");</a:t>
            </a:r>
            <a:endParaRPr b="0" i="0" sz="1400" u="none" cap="none" strike="noStrike"/>
          </a:p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});</a:t>
            </a:r>
            <a:endParaRPr b="0" i="0" sz="1400" u="none" cap="none" strike="noStrike"/>
          </a:p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b="0" i="0" sz="1400" u="none" cap="none" strike="noStrike"/>
          </a:p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promessa</a:t>
            </a:r>
            <a:endParaRPr b="0" i="0" sz="1400" u="none" cap="none" strike="noStrike"/>
          </a:p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.then((res) =&gt; console.log(res))</a:t>
            </a:r>
            <a:endParaRPr b="0" i="0" sz="1400" u="none" cap="none" strike="noStrike"/>
          </a:p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.catch((err) =&gt; console.log(err));</a:t>
            </a:r>
            <a:endParaRPr b="0" i="0" sz="1400" u="none" cap="none" strike="noStrike"/>
          </a:p>
        </p:txBody>
      </p:sp>
      <p:sp>
        <p:nvSpPr>
          <p:cNvPr id="323" name="Google Shape;323;p31"/>
          <p:cNvSpPr/>
          <p:nvPr/>
        </p:nvSpPr>
        <p:spPr>
          <a:xfrm>
            <a:off x="7544157" y="1697474"/>
            <a:ext cx="2346722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Anatomia da Promise</a:t>
            </a:r>
            <a:endParaRPr b="0" i="0" sz="1750" u="none" cap="none" strike="noStrike"/>
          </a:p>
        </p:txBody>
      </p:sp>
      <p:sp>
        <p:nvSpPr>
          <p:cNvPr id="324" name="Google Shape;324;p31"/>
          <p:cNvSpPr/>
          <p:nvPr/>
        </p:nvSpPr>
        <p:spPr>
          <a:xfrm>
            <a:off x="7544135" y="2144200"/>
            <a:ext cx="5898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1400" u="none" cap="none" strike="noStrike"/>
          </a:p>
        </p:txBody>
      </p:sp>
      <p:sp>
        <p:nvSpPr>
          <p:cNvPr id="325" name="Google Shape;325;p31"/>
          <p:cNvSpPr/>
          <p:nvPr/>
        </p:nvSpPr>
        <p:spPr>
          <a:xfrm>
            <a:off x="7544157" y="2429708"/>
            <a:ext cx="6300073" cy="22860"/>
          </a:xfrm>
          <a:prstGeom prst="rect">
            <a:avLst/>
          </a:prstGeom>
          <a:solidFill>
            <a:srgbClr val="00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1"/>
          <p:cNvSpPr/>
          <p:nvPr/>
        </p:nvSpPr>
        <p:spPr>
          <a:xfrm>
            <a:off x="7544157" y="2566154"/>
            <a:ext cx="2268260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Criação</a:t>
            </a:r>
            <a:endParaRPr b="0" i="0" sz="1750" u="none" cap="none" strike="noStrike"/>
          </a:p>
        </p:txBody>
      </p:sp>
      <p:sp>
        <p:nvSpPr>
          <p:cNvPr id="327" name="Google Shape;327;p31"/>
          <p:cNvSpPr/>
          <p:nvPr/>
        </p:nvSpPr>
        <p:spPr>
          <a:xfrm>
            <a:off x="7544157" y="2994779"/>
            <a:ext cx="6300073" cy="268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new Promise(...)</a:t>
            </a:r>
            <a:endParaRPr b="0" i="0" sz="1400" u="none" cap="none" strike="noStrike"/>
          </a:p>
        </p:txBody>
      </p:sp>
      <p:sp>
        <p:nvSpPr>
          <p:cNvPr id="328" name="Google Shape;328;p31"/>
          <p:cNvSpPr/>
          <p:nvPr/>
        </p:nvSpPr>
        <p:spPr>
          <a:xfrm>
            <a:off x="7544126" y="3544849"/>
            <a:ext cx="8043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1400" u="none" cap="none" strike="noStrike"/>
          </a:p>
        </p:txBody>
      </p:sp>
      <p:sp>
        <p:nvSpPr>
          <p:cNvPr id="329" name="Google Shape;329;p31"/>
          <p:cNvSpPr/>
          <p:nvPr/>
        </p:nvSpPr>
        <p:spPr>
          <a:xfrm>
            <a:off x="7544157" y="3830360"/>
            <a:ext cx="6300073" cy="22860"/>
          </a:xfrm>
          <a:prstGeom prst="rect">
            <a:avLst/>
          </a:prstGeom>
          <a:solidFill>
            <a:srgbClr val="00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31"/>
          <p:cNvSpPr/>
          <p:nvPr/>
        </p:nvSpPr>
        <p:spPr>
          <a:xfrm>
            <a:off x="7544157" y="3966805"/>
            <a:ext cx="2268260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Sucesso</a:t>
            </a:r>
            <a:endParaRPr b="0" i="0" sz="1750" u="none" cap="none" strike="noStrike"/>
          </a:p>
        </p:txBody>
      </p:sp>
      <p:sp>
        <p:nvSpPr>
          <p:cNvPr id="331" name="Google Shape;331;p31"/>
          <p:cNvSpPr/>
          <p:nvPr/>
        </p:nvSpPr>
        <p:spPr>
          <a:xfrm>
            <a:off x="7544157" y="4395430"/>
            <a:ext cx="6300073" cy="268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resolve</a:t>
            </a:r>
            <a:r>
              <a:rPr b="0" i="0" lang="en-US" sz="14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→ </a:t>
            </a:r>
            <a:r>
              <a:rPr b="0" i="0" lang="en-US" sz="14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.then()</a:t>
            </a:r>
            <a:endParaRPr b="0" i="0" sz="1400" u="none" cap="none" strike="noStrike"/>
          </a:p>
        </p:txBody>
      </p:sp>
      <p:sp>
        <p:nvSpPr>
          <p:cNvPr id="332" name="Google Shape;332;p31"/>
          <p:cNvSpPr/>
          <p:nvPr/>
        </p:nvSpPr>
        <p:spPr>
          <a:xfrm>
            <a:off x="7544134" y="4945500"/>
            <a:ext cx="5898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1400" u="none" cap="none" strike="noStrike"/>
          </a:p>
        </p:txBody>
      </p:sp>
      <p:sp>
        <p:nvSpPr>
          <p:cNvPr id="333" name="Google Shape;333;p31"/>
          <p:cNvSpPr/>
          <p:nvPr/>
        </p:nvSpPr>
        <p:spPr>
          <a:xfrm>
            <a:off x="7544157" y="5231011"/>
            <a:ext cx="6300073" cy="22860"/>
          </a:xfrm>
          <a:prstGeom prst="rect">
            <a:avLst/>
          </a:prstGeom>
          <a:solidFill>
            <a:srgbClr val="00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1"/>
          <p:cNvSpPr/>
          <p:nvPr/>
        </p:nvSpPr>
        <p:spPr>
          <a:xfrm>
            <a:off x="7544157" y="5367457"/>
            <a:ext cx="2268260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Erro</a:t>
            </a:r>
            <a:endParaRPr b="0" i="0" sz="1750" u="none" cap="none" strike="noStrike"/>
          </a:p>
        </p:txBody>
      </p:sp>
      <p:sp>
        <p:nvSpPr>
          <p:cNvPr id="335" name="Google Shape;335;p31"/>
          <p:cNvSpPr/>
          <p:nvPr/>
        </p:nvSpPr>
        <p:spPr>
          <a:xfrm>
            <a:off x="7544157" y="5796082"/>
            <a:ext cx="6300073" cy="268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reject</a:t>
            </a:r>
            <a:r>
              <a:rPr b="0" i="0" lang="en-US" sz="14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→ </a:t>
            </a:r>
            <a:r>
              <a:rPr b="0" i="0" lang="en-US" sz="14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.catch()</a:t>
            </a:r>
            <a:endParaRPr b="0" i="0" sz="14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